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50800" cy="16459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554480"/>
            <a:ext cx="7132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  <a:ea typeface="Microsoft YaHei"/>
              </a:rPr>
              <a:t>Agent 会话与压缩机制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468880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99D6D8"/>
                </a:solidFill>
                <a:latin typeface="Georgia"/>
                <a:ea typeface="Microsoft YaHei"/>
              </a:rPr>
              <a:t>五家实现对照 · 从存储模型到设计取舍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3840480"/>
            <a:ext cx="7132320" cy="0"/>
          </a:xfrm>
          <a:prstGeom prst="line">
            <a:avLst/>
          </a:prstGeom>
          <a:ln w="6350">
            <a:solidFill>
              <a:srgbClr val="558E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05840" y="40233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9D6D8"/>
                </a:solidFill>
                <a:latin typeface="Calibri"/>
                <a:ea typeface="Microsoft YaHei"/>
              </a:rPr>
              <a:t>agent-learn 分享 · 做中学项目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2976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99D6D8"/>
                </a:solidFill>
                <a:latin typeface="Calibri"/>
                <a:ea typeface="Microsoft YaHei"/>
              </a:rPr>
              <a:t>2026.09</a:t>
            </a:r>
          </a:p>
        </p:txBody>
      </p:sp>
      <p:sp>
        <p:nvSpPr>
          <p:cNvPr id="8" name="Oval 7"/>
          <p:cNvSpPr/>
          <p:nvPr/>
        </p:nvSpPr>
        <p:spPr>
          <a:xfrm>
            <a:off x="7772400" y="4160520"/>
            <a:ext cx="164592" cy="16459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0" y="4160520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21040" y="4160520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95359" y="4160520"/>
            <a:ext cx="164592" cy="16459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69680" y="4160520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ILabel"/>
          <p:cNvSpPr txBox="1"/>
          <p:nvPr/>
        </p:nvSpPr>
        <p:spPr>
          <a:xfrm>
            <a:off x="6564000" y="45635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1">
                <a:solidFill>
                  <a:srgbClr val="028090"/>
                </a:solidFill>
                <a:latin typeface="Calibri"/>
                <a:ea typeface="Microsoft YaHe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E293B"/>
                </a:solidFill>
                <a:latin typeface="Georgia"/>
                <a:ea typeface="Microsoft YaHei"/>
              </a:rPr>
              <a:t>目录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87552"/>
            <a:ext cx="731520" cy="0"/>
          </a:xfrm>
          <a:prstGeom prst="line">
            <a:avLst/>
          </a:prstGeom>
          <a:ln w="31750">
            <a:solidFill>
              <a:srgbClr val="0280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955280" y="29260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  <a:ea typeface="Microsoft YaHei"/>
              </a:rPr>
              <a:t>02 / 18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280160"/>
            <a:ext cx="411480" cy="41148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4416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  <a:ea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29844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93B"/>
                </a:solidFill>
                <a:latin typeface="Georgia"/>
                <a:ea typeface="Microsoft YaHei"/>
              </a:rPr>
              <a:t>问题背景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002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  <a:ea typeface="Microsoft YaHei"/>
              </a:rPr>
              <a:t>为什么 Agent 需要上下文压缩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1993392"/>
            <a:ext cx="411480" cy="41148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5740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01168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93B"/>
                </a:solidFill>
                <a:latin typeface="Georgia"/>
                <a:ea typeface="Microsoft YaHei"/>
              </a:rPr>
              <a:t>会话机制基础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31343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  <a:ea typeface="Microsoft YaHei"/>
              </a:rPr>
              <a:t>Turn 概念 · 存储模型 · 磁盘 vs 运行时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706624"/>
            <a:ext cx="411480" cy="41148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7063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  <a:ea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2491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93B"/>
                </a:solidFill>
                <a:latin typeface="Georgia"/>
                <a:ea typeface="Microsoft YaHei"/>
              </a:rPr>
              <a:t>核心对照：三把剪刀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026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  <a:ea typeface="Microsoft YaHei"/>
              </a:rPr>
              <a:t>三家切点 · 保留策略 · 约束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3419856"/>
            <a:ext cx="411480" cy="41148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483864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438144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93B"/>
                </a:solidFill>
                <a:latin typeface="Georgia"/>
                <a:ea typeface="Microsoft YaHei"/>
              </a:rPr>
              <a:t>深度拆解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739896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  <a:ea typeface="Microsoft YaHei"/>
              </a:rPr>
              <a:t>DSH · KV cache · 我们的实现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4133088"/>
            <a:ext cx="411480" cy="41148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197096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15137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93B"/>
                </a:solidFill>
                <a:latin typeface="Georgia"/>
                <a:ea typeface="Microsoft YaHei"/>
              </a:rPr>
              <a:t>全景对照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45312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  <a:ea typeface="Microsoft YaHei"/>
              </a:rPr>
              <a:t>Claude Code · 五家总表 · 总结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7200" y="4640580"/>
            <a:ext cx="8229600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64748B"/>
                </a:solidFill>
                <a:latin typeface="Calibri"/>
                <a:ea typeface="Microsoft YaHei"/>
              </a:rPr>
              <a:t>agent-learn · 做中学项目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1">
                <a:solidFill>
                  <a:srgbClr val="028090"/>
                </a:solidFill>
                <a:latin typeface="Calibri"/>
                <a:ea typeface="Microsoft YaHei"/>
              </a:rPr>
              <a:t>01  问题背景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E293B"/>
                </a:solidFill>
                <a:latin typeface="Georgia"/>
                <a:ea typeface="Microsoft YaHei"/>
              </a:rPr>
              <a:t>上下文越长，成本越高，记忆越乱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87552"/>
            <a:ext cx="731520" cy="0"/>
          </a:xfrm>
          <a:prstGeom prst="line">
            <a:avLst/>
          </a:prstGeom>
          <a:ln w="31750">
            <a:solidFill>
              <a:srgbClr val="0280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955280" y="29260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  <a:ea typeface="Microsoft YaHei"/>
              </a:rPr>
              <a:t>03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560320" cy="50800"/>
          </a:xfrm>
          <a:prstGeom prst="rect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E36414"/>
                </a:solidFill>
                <a:latin typeface="Georgia"/>
                <a:ea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293B"/>
                </a:solidFill>
                <a:latin typeface="Georgia"/>
                <a:ea typeface="Microsoft YaHei"/>
              </a:rPr>
              <a:t>Token 成本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  <a:ea typeface="Microsoft YaHei"/>
              </a:rPr>
              <a:t>模型按 token 计费
上下文越长，每次调用越贵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56032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560320" cy="508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55448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028090"/>
                </a:solidFill>
                <a:latin typeface="Georgia"/>
                <a:ea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24028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293B"/>
                </a:solidFill>
                <a:latin typeface="Georgia"/>
                <a:ea typeface="Microsoft YaHei"/>
              </a:rPr>
              <a:t>窗口限制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60604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  <a:ea typeface="Microsoft YaHei"/>
              </a:rPr>
              <a:t>每个模型有最大上下文窗口
超过就装不下，必须扔东西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56032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371600"/>
            <a:ext cx="256032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55448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8B5CF6"/>
                </a:solidFill>
                <a:latin typeface="Georgia"/>
                <a:ea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24028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293B"/>
                </a:solidFill>
                <a:latin typeface="Georgia"/>
                <a:ea typeface="Microsoft YaHei"/>
              </a:rPr>
              <a:t>注意力稀释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60604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  <a:ea typeface="Microsoft YaHei"/>
              </a:rPr>
              <a:t>消息越多，关键信息被淹没
模型容易「遗忘」或「幻觉」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57600"/>
            <a:ext cx="38100" cy="5029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5300" y="3657600"/>
            <a:ext cx="819150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730752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E293B"/>
                </a:solidFill>
                <a:latin typeface="Calibri"/>
                <a:ea typeface="Microsoft YaHei"/>
              </a:rPr>
              <a:t>核心矛盾：Agent 做事越多，历史越长 → 上下文越挤 → 模型越容易忘事。压缩不是「省 token」，而是「保记忆」。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4640580"/>
            <a:ext cx="8229600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64748B"/>
                </a:solidFill>
                <a:latin typeface="Calibri"/>
                <a:ea typeface="Microsoft YaHei"/>
              </a:rPr>
              <a:t>数据来源：各开源项目文档与源码分析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1">
                <a:solidFill>
                  <a:srgbClr val="028090"/>
                </a:solidFill>
                <a:latin typeface="Calibri"/>
                <a:ea typeface="Microsoft YaHei"/>
              </a:rPr>
              <a:t>02  会话机制基础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E293B"/>
                </a:solidFill>
                <a:latin typeface="Georgia"/>
                <a:ea typeface="Microsoft YaHei"/>
              </a:rPr>
              <a:t>Turn：一次 user 消息 → 一组工具调用 → 下一条 user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87552"/>
            <a:ext cx="731520" cy="0"/>
          </a:xfrm>
          <a:prstGeom prst="line">
            <a:avLst/>
          </a:prstGeom>
          <a:ln w="31750">
            <a:solidFill>
              <a:srgbClr val="0280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955280" y="29260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  <a:ea typeface="Microsoft YaHei"/>
              </a:rPr>
              <a:t>04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914400" cy="347472"/>
          </a:xfrm>
          <a:prstGeom prst="rect">
            <a:avLst/>
          </a:prstGeom>
          <a:solidFill>
            <a:srgbClr val="DBEAFE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7627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B82F6"/>
                </a:solidFill>
                <a:latin typeface="Calibri"/>
                <a:ea typeface="Microsoft YaHei"/>
              </a:rPr>
              <a:t>user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45920" y="2276856.0"/>
            <a:ext cx="228600" cy="0.0"/>
          </a:xfrm>
          <a:prstGeom prst="line">
            <a:avLst/>
          </a:prstGeom>
          <a:ln w="1905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965960" y="1691640"/>
            <a:ext cx="27432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3120" y="1828800"/>
            <a:ext cx="1188720" cy="36576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1901952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59E0B"/>
                </a:solidFill>
                <a:latin typeface="Calibri"/>
                <a:ea typeface="Microsoft YaHei"/>
              </a:rPr>
              <a:t>toolCall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97480.0" y="2194560"/>
            <a:ext cx="0.0" cy="137160"/>
          </a:xfrm>
          <a:prstGeom prst="line">
            <a:avLst/>
          </a:prstGeom>
          <a:ln w="1905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103120" y="2359152"/>
            <a:ext cx="1188720" cy="365760"/>
          </a:xfrm>
          <a:prstGeom prst="rect">
            <a:avLst/>
          </a:prstGeom>
          <a:solidFill>
            <a:srgbClr val="DCFCE7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2432304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22C55E"/>
                </a:solidFill>
                <a:latin typeface="Calibri"/>
                <a:ea typeface="Microsoft YaHei"/>
              </a:rPr>
              <a:t>toolResult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66160" y="2542032.0"/>
            <a:ext cx="1005840" cy="0.0"/>
          </a:xfrm>
          <a:prstGeom prst="line">
            <a:avLst/>
          </a:prstGeom>
          <a:ln w="12700">
            <a:solidFill>
              <a:srgbClr val="02809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572000" y="2011680.0"/>
            <a:ext cx="0" cy="530352.0"/>
          </a:xfrm>
          <a:prstGeom prst="line">
            <a:avLst/>
          </a:prstGeom>
          <a:ln w="12700">
            <a:solidFill>
              <a:srgbClr val="02809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3291840" y="2011680.0"/>
            <a:ext cx="1280160" cy="0.0"/>
          </a:xfrm>
          <a:prstGeom prst="line">
            <a:avLst/>
          </a:prstGeom>
          <a:ln w="12700">
            <a:solidFill>
              <a:srgbClr val="02809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11880" y="1709928"/>
            <a:ext cx="1005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1">
                <a:solidFill>
                  <a:srgbClr val="028090"/>
                </a:solidFill>
                <a:latin typeface="Calibri"/>
                <a:ea typeface="Microsoft YaHei"/>
              </a:rPr>
              <a:t>可多轮循环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09160" y="2276856.0"/>
            <a:ext cx="274320" cy="0.0"/>
          </a:xfrm>
          <a:prstGeom prst="line">
            <a:avLst/>
          </a:prstGeom>
          <a:ln w="1905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983480" y="2103120"/>
            <a:ext cx="1097280" cy="347472"/>
          </a:xfrm>
          <a:prstGeom prst="rect">
            <a:avLst/>
          </a:prstGeom>
          <a:solidFill>
            <a:srgbClr val="DBEAFE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2176272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B82F6"/>
                </a:solidFill>
                <a:latin typeface="Calibri"/>
                <a:ea typeface="Microsoft YaHei"/>
              </a:rPr>
              <a:t>下一条 user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1325880"/>
            <a:ext cx="5349240" cy="3200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1371600"/>
            <a:ext cx="5349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YaHei"/>
              </a:rPr>
              <a:t>一个 Turn（一轮对话）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05840" y="1645920"/>
            <a:ext cx="0" cy="457200"/>
          </a:xfrm>
          <a:prstGeom prst="line">
            <a:avLst/>
          </a:prstGeom>
          <a:ln w="19050">
            <a:solidFill>
              <a:srgbClr val="0280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806440" y="1645920"/>
            <a:ext cx="0" cy="457200"/>
          </a:xfrm>
          <a:prstGeom prst="line">
            <a:avLst/>
          </a:prstGeom>
          <a:ln w="19050">
            <a:solidFill>
              <a:srgbClr val="0280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57200" y="3566160"/>
            <a:ext cx="38100" cy="5486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3584448"/>
            <a:ext cx="25115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E293B"/>
                </a:solidFill>
                <a:latin typeface="Calibri"/>
                <a:ea typeface="Microsoft YaHei"/>
              </a:rPr>
              <a:t>硬约束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813048"/>
            <a:ext cx="25115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  <a:ea typeface="Microsoft YaHei"/>
              </a:rPr>
              <a:t>API 要求：toolCall 和 toolResult 必须配对出现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61360" y="3566160"/>
            <a:ext cx="38100" cy="5486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71088" y="3584448"/>
            <a:ext cx="25115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E293B"/>
                </a:solidFill>
                <a:latin typeface="Calibri"/>
                <a:ea typeface="Microsoft YaHei"/>
              </a:rPr>
              <a:t>压缩基本单位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71088" y="3813048"/>
            <a:ext cx="25115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  <a:ea typeface="Microsoft YaHei"/>
              </a:rPr>
              <a:t>切点不能落在 toolResult 上（会 400）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65520" y="3566160"/>
            <a:ext cx="38100" cy="5486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5248" y="3584448"/>
            <a:ext cx="25115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E293B"/>
                </a:solidFill>
                <a:latin typeface="Calibri"/>
                <a:ea typeface="Microsoft YaHei"/>
              </a:rPr>
              <a:t>我们的做法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5248" y="3813048"/>
            <a:ext cx="25115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  <a:ea typeface="Microsoft YaHei"/>
              </a:rPr>
              <a:t>while 切点在 toolResult 就前移，直到 user/assistant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57200" y="4640580"/>
            <a:ext cx="8229600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64748B"/>
                </a:solidFill>
                <a:latin typeface="Calibri"/>
                <a:ea typeface="Microsoft YaHei"/>
              </a:rPr>
              <a:t>知识点：Turn 概念 · tool-pairing 约束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1">
                <a:solidFill>
                  <a:srgbClr val="028090"/>
                </a:solidFill>
                <a:latin typeface="Calibri"/>
                <a:ea typeface="Microsoft YaHei"/>
              </a:rPr>
              <a:t>02  会话机制基础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E293B"/>
                </a:solidFill>
                <a:latin typeface="Georgia"/>
                <a:ea typeface="Microsoft YaHei"/>
              </a:rPr>
              <a:t>三种存储模型：从「树」到「事件日志 + 视图」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87552"/>
            <a:ext cx="731520" cy="0"/>
          </a:xfrm>
          <a:prstGeom prst="line">
            <a:avLst/>
          </a:prstGeom>
          <a:ln w="31750">
            <a:solidFill>
              <a:srgbClr val="0280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955280" y="29260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  <a:ea typeface="Microsoft YaHei"/>
              </a:rPr>
              <a:t>05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560320" cy="7315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81328"/>
            <a:ext cx="1097280" cy="256032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17904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3B82F6"/>
                </a:solidFill>
                <a:latin typeface="Calibri"/>
                <a:ea typeface="Microsoft YaHei"/>
              </a:rPr>
              <a:t>树形结构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293B"/>
                </a:solidFill>
                <a:latin typeface="Georgia"/>
                <a:ea typeface="Microsoft YaHei"/>
              </a:rPr>
              <a:t>我们 · 消息树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.0" y="2240280"/>
            <a:ext cx="2194560.0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85800" y="2450592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3774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293B"/>
                </a:solidFill>
                <a:latin typeface="Calibri"/>
                <a:ea typeface="Microsoft YaHei"/>
              </a:rPr>
              <a:t>parentId 指针组成树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276148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293B"/>
                </a:solidFill>
                <a:latin typeface="Calibri"/>
                <a:ea typeface="Microsoft YaHei"/>
              </a:rPr>
              <a:t>叶子 = 当前对话路径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3218688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14553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293B"/>
                </a:solidFill>
                <a:latin typeface="Calibri"/>
                <a:ea typeface="Microsoft YaHei"/>
              </a:rPr>
              <a:t>压缩 = 新分支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3602736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529584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293B"/>
                </a:solidFill>
                <a:latin typeface="Calibri"/>
                <a:ea typeface="Microsoft YaHei"/>
              </a:rPr>
              <a:t>支持多分支回溯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1280160"/>
            <a:ext cx="25603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1280160"/>
            <a:ext cx="2560320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74720" y="1481328"/>
            <a:ext cx="1097280" cy="256032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1517904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10B981"/>
                </a:solidFill>
                <a:latin typeface="Calibri"/>
                <a:ea typeface="Microsoft YaHei"/>
              </a:rPr>
              <a:t>纯日志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18288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293B"/>
                </a:solidFill>
                <a:latin typeface="Georgia"/>
                <a:ea typeface="Microsoft YaHei"/>
              </a:rPr>
              <a:t>pi · 纯日志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474720.0" y="2240280"/>
            <a:ext cx="2194560.0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3520440" y="245059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75888" y="23774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293B"/>
                </a:solidFill>
                <a:latin typeface="Calibri"/>
                <a:ea typeface="Microsoft YaHei"/>
              </a:rPr>
              <a:t>一条日志，永不回头</a:t>
            </a:r>
          </a:p>
        </p:txBody>
      </p:sp>
      <p:sp>
        <p:nvSpPr>
          <p:cNvPr id="28" name="Oval 27"/>
          <p:cNvSpPr/>
          <p:nvPr/>
        </p:nvSpPr>
        <p:spPr>
          <a:xfrm>
            <a:off x="3520440" y="2834640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75888" y="276148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293B"/>
                </a:solidFill>
                <a:latin typeface="Calibri"/>
                <a:ea typeface="Microsoft YaHei"/>
              </a:rPr>
              <a:t>读时过滤掉被压消息</a:t>
            </a:r>
          </a:p>
        </p:txBody>
      </p:sp>
      <p:sp>
        <p:nvSpPr>
          <p:cNvPr id="30" name="Oval 29"/>
          <p:cNvSpPr/>
          <p:nvPr/>
        </p:nvSpPr>
        <p:spPr>
          <a:xfrm>
            <a:off x="3520440" y="3218688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75888" y="314553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293B"/>
                </a:solidFill>
                <a:latin typeface="Calibri"/>
                <a:ea typeface="Microsoft YaHei"/>
              </a:rPr>
              <a:t>压缩 = 物理删除</a:t>
            </a:r>
          </a:p>
        </p:txBody>
      </p:sp>
      <p:sp>
        <p:nvSpPr>
          <p:cNvPr id="32" name="Oval 31"/>
          <p:cNvSpPr/>
          <p:nvPr/>
        </p:nvSpPr>
        <p:spPr>
          <a:xfrm>
            <a:off x="3520440" y="3602736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75888" y="3529584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293B"/>
                </a:solidFill>
                <a:latin typeface="Calibri"/>
                <a:ea typeface="Microsoft YaHei"/>
              </a:rPr>
              <a:t>简单直接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1280160"/>
            <a:ext cx="25603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26480" y="1280160"/>
            <a:ext cx="256032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1481328"/>
            <a:ext cx="1097280" cy="256032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517904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59E0B"/>
                </a:solidFill>
                <a:latin typeface="Calibri"/>
                <a:ea typeface="Microsoft YaHei"/>
              </a:rPr>
              <a:t>事件溯源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18288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293B"/>
                </a:solidFill>
                <a:latin typeface="Georgia"/>
                <a:ea typeface="Microsoft YaHei"/>
              </a:rPr>
              <a:t>DSH · 日志+视图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309360.0" y="2240280"/>
            <a:ext cx="2194560.0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355080" y="2450592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0528" y="23774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293B"/>
                </a:solidFill>
                <a:latin typeface="Calibri"/>
                <a:ea typeface="Microsoft YaHei"/>
              </a:rPr>
              <a:t>log = 事件日志（永不删）</a:t>
            </a:r>
          </a:p>
        </p:txBody>
      </p:sp>
      <p:sp>
        <p:nvSpPr>
          <p:cNvPr id="42" name="Oval 41"/>
          <p:cNvSpPr/>
          <p:nvPr/>
        </p:nvSpPr>
        <p:spPr>
          <a:xfrm>
            <a:off x="6355080" y="2834640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10528" y="276148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293B"/>
                </a:solidFill>
                <a:latin typeface="Calibri"/>
                <a:ea typeface="Microsoft YaHei"/>
              </a:rPr>
              <a:t>surface = 折叠视图（索引）</a:t>
            </a:r>
          </a:p>
        </p:txBody>
      </p:sp>
      <p:sp>
        <p:nvSpPr>
          <p:cNvPr id="44" name="Oval 43"/>
          <p:cNvSpPr/>
          <p:nvPr/>
        </p:nvSpPr>
        <p:spPr>
          <a:xfrm>
            <a:off x="6355080" y="3218688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10528" y="314553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293B"/>
                </a:solidFill>
                <a:latin typeface="Calibri"/>
                <a:ea typeface="Microsoft YaHei"/>
              </a:rPr>
              <a:t>写时只校验，读时才折叠</a:t>
            </a:r>
          </a:p>
        </p:txBody>
      </p:sp>
      <p:sp>
        <p:nvSpPr>
          <p:cNvPr id="46" name="Oval 45"/>
          <p:cNvSpPr/>
          <p:nvPr/>
        </p:nvSpPr>
        <p:spPr>
          <a:xfrm>
            <a:off x="6355080" y="3602736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10528" y="3529584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293B"/>
                </a:solidFill>
                <a:latin typeface="Calibri"/>
                <a:ea typeface="Microsoft YaHei"/>
              </a:rPr>
              <a:t>最复杂也最强大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434840"/>
            <a:ext cx="38100" cy="5029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5300" y="4434840"/>
            <a:ext cx="819150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4507992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E293B"/>
                </a:solidFill>
                <a:latin typeface="Calibri"/>
                <a:ea typeface="Microsoft YaHei"/>
              </a:rPr>
              <a:t>存储模型决定一切：删不删、怎么找、压缩怎么实现、崩溃怎么恢复 — 都从存储模型长出来。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57200" y="4640580"/>
            <a:ext cx="8229600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64748B"/>
                </a:solidFill>
                <a:latin typeface="Calibri"/>
                <a:ea typeface="Microsoft YaHei"/>
              </a:rPr>
              <a:t>对应文档：02-压缩机制.md · 图一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1">
                <a:solidFill>
                  <a:srgbClr val="028090"/>
                </a:solidFill>
                <a:latin typeface="Calibri"/>
                <a:ea typeface="Microsoft YaHei"/>
              </a:rPr>
              <a:t>03  核心对照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E293B"/>
                </a:solidFill>
                <a:latin typeface="Georgia"/>
                <a:ea typeface="Microsoft YaHei"/>
              </a:rPr>
              <a:t>三把剪刀：同一段对话，三家切在不同的位置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87552"/>
            <a:ext cx="731520" cy="0"/>
          </a:xfrm>
          <a:prstGeom prst="line">
            <a:avLst/>
          </a:prstGeom>
          <a:ln w="31750">
            <a:solidFill>
              <a:srgbClr val="0280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955280" y="29260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  <a:ea typeface="Microsoft YaHei"/>
              </a:rPr>
              <a:t>06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234440"/>
            <a:ext cx="914400" cy="274320"/>
          </a:xfrm>
          <a:prstGeom prst="rect">
            <a:avLst/>
          </a:prstGeom>
          <a:solidFill>
            <a:srgbClr val="DBEAFE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271016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3B82F6"/>
                </a:solidFill>
                <a:latin typeface="Calibri"/>
                <a:ea typeface="Microsoft YaHei"/>
              </a:rPr>
              <a:t>U1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563624"/>
            <a:ext cx="914400" cy="274320"/>
          </a:xfrm>
          <a:prstGeom prst="rect">
            <a:avLst/>
          </a:prstGeom>
          <a:solidFill>
            <a:srgbClr val="DCFCE7"/>
          </a:solidFill>
          <a:ln w="1524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600200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0B981"/>
                </a:solidFill>
                <a:latin typeface="Calibri"/>
                <a:ea typeface="Microsoft YaHei"/>
              </a:rPr>
              <a:t>A1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892808"/>
            <a:ext cx="914400" cy="274320"/>
          </a:xfrm>
          <a:prstGeom prst="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929384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59E0B"/>
                </a:solidFill>
                <a:latin typeface="Calibri"/>
                <a:ea typeface="Microsoft YaHei"/>
              </a:rPr>
              <a:t>T1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221992"/>
            <a:ext cx="914400" cy="274320"/>
          </a:xfrm>
          <a:prstGeom prst="rect">
            <a:avLst/>
          </a:prstGeom>
          <a:solidFill>
            <a:srgbClr val="DCFCE7"/>
          </a:solidFill>
          <a:ln w="1524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2258568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0B981"/>
                </a:solidFill>
                <a:latin typeface="Calibri"/>
                <a:ea typeface="Microsoft YaHei"/>
              </a:rPr>
              <a:t>A2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2551176"/>
            <a:ext cx="914400" cy="274320"/>
          </a:xfrm>
          <a:prstGeom prst="rect">
            <a:avLst/>
          </a:prstGeom>
          <a:solidFill>
            <a:srgbClr val="DBEAFE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258775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3B82F6"/>
                </a:solidFill>
                <a:latin typeface="Calibri"/>
                <a:ea typeface="Microsoft YaHei"/>
              </a:rPr>
              <a:t>U2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880360"/>
            <a:ext cx="914400" cy="274320"/>
          </a:xfrm>
          <a:prstGeom prst="rect">
            <a:avLst/>
          </a:prstGeom>
          <a:solidFill>
            <a:srgbClr val="DCFCE7"/>
          </a:solidFill>
          <a:ln w="1524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916936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0B981"/>
                </a:solidFill>
                <a:latin typeface="Calibri"/>
                <a:ea typeface="Microsoft YaHei"/>
              </a:rPr>
              <a:t>A3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3209544"/>
            <a:ext cx="914400" cy="274320"/>
          </a:xfrm>
          <a:prstGeom prst="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3246120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59E0B"/>
                </a:solidFill>
                <a:latin typeface="Calibri"/>
                <a:ea typeface="Microsoft YaHei"/>
              </a:rPr>
              <a:t>T2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3538728"/>
            <a:ext cx="914400" cy="274320"/>
          </a:xfrm>
          <a:prstGeom prst="rect">
            <a:avLst/>
          </a:prstGeom>
          <a:solidFill>
            <a:srgbClr val="DBEAFE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3575304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3B82F6"/>
                </a:solidFill>
                <a:latin typeface="Calibri"/>
                <a:ea typeface="Microsoft YaHei"/>
              </a:rPr>
              <a:t>U3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3867912"/>
            <a:ext cx="914400" cy="274320"/>
          </a:xfrm>
          <a:prstGeom prst="rect">
            <a:avLst/>
          </a:prstGeom>
          <a:solidFill>
            <a:srgbClr val="DCFCE7"/>
          </a:solidFill>
          <a:ln w="1524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0" y="3904488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0B981"/>
                </a:solidFill>
                <a:latin typeface="Calibri"/>
                <a:ea typeface="Microsoft YaHei"/>
              </a:rPr>
              <a:t>A4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4197096"/>
            <a:ext cx="914400" cy="274320"/>
          </a:xfrm>
          <a:prstGeom prst="rect">
            <a:avLst/>
          </a:prstGeom>
          <a:solidFill>
            <a:srgbClr val="DBEAFE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0" y="423367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3B82F6"/>
                </a:solidFill>
                <a:latin typeface="Calibri"/>
                <a:ea typeface="Microsoft YaHei"/>
              </a:rPr>
              <a:t>U4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4526280"/>
            <a:ext cx="914400" cy="274320"/>
          </a:xfrm>
          <a:prstGeom prst="rect">
            <a:avLst/>
          </a:prstGeom>
          <a:solidFill>
            <a:srgbClr val="DCFCE7"/>
          </a:solidFill>
          <a:ln w="1524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0" y="4562856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0B981"/>
                </a:solidFill>
                <a:latin typeface="Calibri"/>
                <a:ea typeface="Microsoft YaHei"/>
              </a:rPr>
              <a:t>A5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4855464"/>
            <a:ext cx="914400" cy="274320"/>
          </a:xfrm>
          <a:prstGeom prst="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0" y="4892040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59E0B"/>
                </a:solidFill>
                <a:latin typeface="Calibri"/>
                <a:ea typeface="Microsoft YaHei"/>
              </a:rPr>
              <a:t>T3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1307592"/>
            <a:ext cx="1920240" cy="502920"/>
          </a:xfrm>
          <a:prstGeom prst="rect">
            <a:avLst/>
          </a:prstGeom>
          <a:solidFill>
            <a:srgbClr val="F8FAFC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1344168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B82F6"/>
                </a:solidFill>
                <a:latin typeface="Calibri"/>
                <a:ea typeface="Microsoft YaHei"/>
              </a:rPr>
              <a:t>✂  我们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1545336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4748B"/>
                </a:solidFill>
                <a:latin typeface="Calibri"/>
                <a:ea typeface="Microsoft YaHei"/>
              </a:rPr>
              <a:t>定长策略
保留最近 N 条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468880" y="1536192.0"/>
            <a:ext cx="228600" cy="0.0"/>
          </a:xfrm>
          <a:prstGeom prst="line">
            <a:avLst/>
          </a:prstGeom>
          <a:ln w="19050">
            <a:solidFill>
              <a:srgbClr val="3B82F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548640" y="2624328"/>
            <a:ext cx="1920240" cy="502920"/>
          </a:xfrm>
          <a:prstGeom prst="rect">
            <a:avLst/>
          </a:prstGeom>
          <a:solidFill>
            <a:srgbClr val="F8FAFC"/>
          </a:solidFill>
          <a:ln w="1524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2660904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  <a:ea typeface="Microsoft YaHei"/>
              </a:rPr>
              <a:t>✂  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2862072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4748B"/>
                </a:solidFill>
                <a:latin typeface="Calibri"/>
                <a:ea typeface="Microsoft YaHei"/>
              </a:rPr>
              <a:t>turn 边界
split-turn 特例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468880" y="2852928.0"/>
            <a:ext cx="228600" cy="0.0"/>
          </a:xfrm>
          <a:prstGeom prst="line">
            <a:avLst/>
          </a:prstGeom>
          <a:ln w="19050">
            <a:solidFill>
              <a:srgbClr val="10B98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548640" y="2953512"/>
            <a:ext cx="1920240" cy="502920"/>
          </a:xfrm>
          <a:prstGeom prst="rect">
            <a:avLst/>
          </a:prstGeom>
          <a:solidFill>
            <a:srgbClr val="F8FAFC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2990088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59E0B"/>
                </a:solidFill>
                <a:latin typeface="Calibri"/>
                <a:ea typeface="Microsoft YaHei"/>
              </a:rPr>
              <a:t>✂  DSH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3191256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4748B"/>
                </a:solidFill>
                <a:latin typeface="Calibri"/>
                <a:ea typeface="Microsoft YaHei"/>
              </a:rPr>
              <a:t>比例制 retainRatio
两端 tool-pairing 平衡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468880" y="3182112.0"/>
            <a:ext cx="228600" cy="0.0"/>
          </a:xfrm>
          <a:prstGeom prst="line">
            <a:avLst/>
          </a:prstGeom>
          <a:ln w="19050">
            <a:solidFill>
              <a:srgbClr val="F59E0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4114800" y="1234440"/>
            <a:ext cx="2011680" cy="178308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0" y="198882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EF4444"/>
                </a:solidFill>
                <a:latin typeface="Calibri"/>
                <a:ea typeface="Microsoft YaHei"/>
              </a:rPr>
              <a:t>被压缩进摘要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0" y="3035808"/>
            <a:ext cx="2011680" cy="214884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0" y="312724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22C55E"/>
                </a:solidFill>
                <a:latin typeface="Calibri"/>
                <a:ea typeface="Microsoft YaHei"/>
              </a:rPr>
              <a:t>保留区（原文）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3355848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64748B"/>
                </a:solidFill>
                <a:latin typeface="Calibri"/>
                <a:ea typeface="Microsoft YaHei"/>
              </a:rPr>
              <a:t>模型能看到的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1005840"/>
            <a:ext cx="182880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80944" y="101498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4748B"/>
                </a:solidFill>
                <a:latin typeface="Calibri"/>
                <a:ea typeface="Microsoft YaHei"/>
              </a:rPr>
              <a:t>user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0" y="1005840"/>
            <a:ext cx="182880" cy="182880"/>
          </a:xfrm>
          <a:prstGeom prst="rect">
            <a:avLst/>
          </a:prstGeom>
          <a:solidFill>
            <a:srgbClr val="DCFCE7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95344" y="101498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4748B"/>
                </a:solidFill>
                <a:latin typeface="Calibri"/>
                <a:ea typeface="Microsoft YaHei"/>
              </a:rPr>
              <a:t>assistant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0" y="1005840"/>
            <a:ext cx="182880" cy="1828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09744" y="101498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4748B"/>
                </a:solidFill>
                <a:latin typeface="Calibri"/>
                <a:ea typeface="Microsoft YaHei"/>
              </a:rPr>
              <a:t>tool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434840"/>
            <a:ext cx="38100" cy="5029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95300" y="4434840"/>
            <a:ext cx="819150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" y="4507992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E293B"/>
                </a:solidFill>
                <a:latin typeface="Calibri"/>
                <a:ea typeface="Microsoft YaHei"/>
              </a:rPr>
              <a:t>共同约束：没人敢切在 toolResult 上 — 这是 API 的硬规矩。但切在哪里、保留多少、按什么标准，每家答案完全不同。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57200" y="4640580"/>
            <a:ext cx="8229600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64748B"/>
                </a:solidFill>
                <a:latin typeface="Calibri"/>
                <a:ea typeface="Microsoft YaHei"/>
              </a:rPr>
              <a:t>核心图 · 对应文档：02-压缩机制.md · 图二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1">
                <a:solidFill>
                  <a:srgbClr val="028090"/>
                </a:solidFill>
                <a:latin typeface="Calibri"/>
                <a:ea typeface="Microsoft YaHei"/>
              </a:rPr>
              <a:t>03  核心对照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E293B"/>
                </a:solidFill>
                <a:latin typeface="Georgia"/>
                <a:ea typeface="Microsoft YaHei"/>
              </a:rPr>
              <a:t>压缩后模型看到什么？三家保留策略对比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87552"/>
            <a:ext cx="731520" cy="0"/>
          </a:xfrm>
          <a:prstGeom prst="line">
            <a:avLst/>
          </a:prstGeom>
          <a:ln w="31750">
            <a:solidFill>
              <a:srgbClr val="0280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955280" y="29260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  <a:ea typeface="Microsoft YaHei"/>
              </a:rPr>
              <a:t>07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560320" cy="7315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293B"/>
                </a:solidFill>
                <a:latin typeface="Georgia"/>
                <a:ea typeface="Microsoft YaHei"/>
              </a:rPr>
              <a:t>我们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01952"/>
            <a:ext cx="2194560" cy="594360"/>
          </a:xfrm>
          <a:prstGeom prst="rect">
            <a:avLst/>
          </a:prstGeom>
          <a:solidFill>
            <a:srgbClr val="F3E8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47672"/>
            <a:ext cx="2011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8B5CF6"/>
                </a:solidFill>
                <a:latin typeface="Calibri"/>
                <a:ea typeface="Microsoft YaHei"/>
              </a:rPr>
              <a:t>📝  摘要内容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57984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293B"/>
                </a:solidFill>
                <a:latin typeface="Calibri"/>
                <a:ea typeface="Microsoft YaHei"/>
              </a:rPr>
              <a:t>结构化摘要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33472"/>
            <a:ext cx="2194560" cy="59436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79192"/>
            <a:ext cx="2011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2C55E"/>
                </a:solidFill>
                <a:latin typeface="Calibri"/>
                <a:ea typeface="Microsoft YaHei"/>
              </a:rPr>
              <a:t>✅  保留原文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89504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293B"/>
                </a:solidFill>
                <a:latin typeface="Calibri"/>
                <a:ea typeface="Microsoft YaHei"/>
              </a:rPr>
              <a:t>保留最近 N 条原文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6499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  <a:ea typeface="Microsoft YaHei"/>
              </a:rPr>
              <a:t>定长策略，简单直接
切点不能落在 toolResult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280160"/>
            <a:ext cx="25603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1280160"/>
            <a:ext cx="2560320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46304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293B"/>
                </a:solidFill>
                <a:latin typeface="Georgia"/>
                <a:ea typeface="Microsoft YaHei"/>
              </a:rPr>
              <a:t>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1901952"/>
            <a:ext cx="2194560" cy="594360"/>
          </a:xfrm>
          <a:prstGeom prst="rect">
            <a:avLst/>
          </a:prstGeom>
          <a:solidFill>
            <a:srgbClr val="F3E8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1947672"/>
            <a:ext cx="2011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8B5CF6"/>
                </a:solidFill>
                <a:latin typeface="Calibri"/>
                <a:ea typeface="Microsoft YaHei"/>
              </a:rPr>
              <a:t>📝  摘要内容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157984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293B"/>
                </a:solidFill>
                <a:latin typeface="Calibri"/>
                <a:ea typeface="Microsoft YaHei"/>
              </a:rPr>
              <a:t>LLM 摘要 + retainedTail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2633472"/>
            <a:ext cx="2194560" cy="59436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0" y="2679192"/>
            <a:ext cx="2011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2C55E"/>
                </a:solidFill>
                <a:latin typeface="Calibri"/>
                <a:ea typeface="Microsoft YaHei"/>
              </a:rPr>
              <a:t>✅  保留原文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2889504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293B"/>
                </a:solidFill>
                <a:latin typeface="Calibri"/>
                <a:ea typeface="Microsoft YaHei"/>
              </a:rPr>
              <a:t>保留尾部 ~20k tokens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36499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  <a:ea typeface="Microsoft YaHei"/>
              </a:rPr>
              <a:t>物理删除旧消息
retainedTail 内联近尾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280160"/>
            <a:ext cx="25603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1280160"/>
            <a:ext cx="256032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146304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293B"/>
                </a:solidFill>
                <a:latin typeface="Georgia"/>
                <a:ea typeface="Microsoft YaHei"/>
              </a:rPr>
              <a:t>DSH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1901952"/>
            <a:ext cx="2194560" cy="594360"/>
          </a:xfrm>
          <a:prstGeom prst="rect">
            <a:avLst/>
          </a:prstGeom>
          <a:solidFill>
            <a:srgbClr val="F3E8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947672"/>
            <a:ext cx="2011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8B5CF6"/>
                </a:solidFill>
                <a:latin typeface="Calibri"/>
                <a:ea typeface="Microsoft YaHei"/>
              </a:rPr>
              <a:t>📝  摘要内容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157984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293B"/>
                </a:solidFill>
                <a:latin typeface="Calibri"/>
                <a:ea typeface="Microsoft YaHei"/>
              </a:rPr>
              <a:t>剪枝先行 + LLM 摘要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633472"/>
            <a:ext cx="2194560" cy="59436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679192"/>
            <a:ext cx="2011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2C55E"/>
                </a:solidFill>
                <a:latin typeface="Calibri"/>
                <a:ea typeface="Microsoft YaHei"/>
              </a:rPr>
              <a:t>✅  保留原文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889504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293B"/>
                </a:solidFill>
                <a:latin typeface="Calibri"/>
                <a:ea typeface="Microsoft YaHei"/>
              </a:rPr>
              <a:t>retainRatio = 16%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36499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  <a:ea typeface="Microsoft YaHei"/>
              </a:rPr>
              <a:t>比例制，两端平衡
先剪枝再摘要，省 API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160520"/>
            <a:ext cx="38100" cy="5029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5300" y="4160520"/>
            <a:ext cx="819150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233672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E293B"/>
                </a:solidFill>
                <a:latin typeface="Calibri"/>
                <a:ea typeface="Microsoft YaHei"/>
              </a:rPr>
              <a:t>保留什么 = 产品哲学：pi 保原文尾（连贯性），DSH 比例制（成本可控），我们定长 N 条（简单够用）。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57200" y="4640580"/>
            <a:ext cx="8229600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64748B"/>
                </a:solidFill>
                <a:latin typeface="Calibri"/>
                <a:ea typeface="Microsoft YaHei"/>
              </a:rPr>
              <a:t>对应文档：02-压缩机制.md · 图三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1">
                <a:solidFill>
                  <a:srgbClr val="028090"/>
                </a:solidFill>
                <a:latin typeface="Calibri"/>
                <a:ea typeface="Microsoft YaHei"/>
              </a:rPr>
              <a:t>04  深度拆解 · DSH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E293B"/>
                </a:solidFill>
                <a:latin typeface="Georgia"/>
                <a:ea typeface="Microsoft YaHei"/>
              </a:rPr>
              <a:t>三件套：session / log / surface — 不是平级，是「包含」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87552"/>
            <a:ext cx="731520" cy="0"/>
          </a:xfrm>
          <a:prstGeom prst="line">
            <a:avLst/>
          </a:prstGeom>
          <a:ln w="31750">
            <a:solidFill>
              <a:srgbClr val="0280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955280" y="29260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  <a:ea typeface="Microsoft YaHei"/>
              </a:rPr>
              <a:t>08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280160"/>
            <a:ext cx="7315200" cy="2743200"/>
          </a:xfrm>
          <a:prstGeom prst="rect">
            <a:avLst/>
          </a:prstGeom>
          <a:solidFill>
            <a:srgbClr val="F8FAFC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280160"/>
            <a:ext cx="7315200" cy="3200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3502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Session（一个会话 = 一个对象，活在内存里）— "盒子"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1783080"/>
            <a:ext cx="228600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828800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  <a:ea typeface="Microsoft YaHei"/>
              </a:rPr>
              <a:t>header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029968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  <a:ea typeface="Microsoft YaHei"/>
              </a:rPr>
              <a:t>id / cwd / 谱系 / 创建时间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2377440"/>
            <a:ext cx="3474720" cy="1463040"/>
          </a:xfrm>
          <a:prstGeom prst="rect">
            <a:avLst/>
          </a:prstGeom>
          <a:solidFill>
            <a:srgbClr val="FFFBEB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88720" y="2377440"/>
            <a:ext cx="3474720" cy="274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414016"/>
            <a:ext cx="3474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YaHei"/>
              </a:rPr>
              <a:t>log（唯一真相，append-only）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69748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92400E"/>
                </a:solidFill>
                <a:latin typeface="Calibri"/>
                <a:ea typeface="Microsoft YaHei"/>
              </a:rPr>
              <a:t>private log: SessionEvent[]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92400E"/>
                </a:solidFill>
                <a:latin typeface="Calibri"/>
                <a:ea typeface="Microsoft YaHei"/>
              </a:rPr>
              <a:t>user/message、assistant/message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92400E"/>
                </a:solidFill>
                <a:latin typeface="Calibri"/>
                <a:ea typeface="Microsoft YaHei"/>
              </a:rPr>
              <a:t>tool/result、turn/start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92400E"/>
                </a:solidFill>
                <a:latin typeface="Calibri"/>
                <a:ea typeface="Microsoft YaHei"/>
              </a:rPr>
              <a:t>compaction/start、compaction/summary…</a:t>
            </a:r>
          </a:p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92400E"/>
                </a:solidFill>
                <a:latin typeface="Calibri"/>
                <a:ea typeface="Microsoft YaHei"/>
              </a:rPr>
              <a:t>永不删 — 所有事件都在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2377440"/>
            <a:ext cx="3383280" cy="146304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2377440"/>
            <a:ext cx="3383280" cy="2743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414016"/>
            <a:ext cx="3383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YaHei"/>
              </a:rPr>
              <a:t>surfaceManager（折叠视图）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69748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1E293B"/>
                </a:solidFill>
                <a:latin typeface="Calibri"/>
                <a:ea typeface="Microsoft YaHei"/>
              </a:rPr>
              <a:t>session.surface（getter）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  nodes: number[]   ← 可见 seq 索引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  replaceGeneration  ← 替换版本号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  _lastProcessedSeq  ← 增量折叠进度</a:t>
            </a:r>
          </a:p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1E293B"/>
                </a:solidFill>
                <a:latin typeface="Calibri"/>
                <a:ea typeface="Microsoft YaHei"/>
              </a:rPr>
              <a:t>不是数据副本，是索引 + 折叠状态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4663440" y="3108960.0"/>
            <a:ext cx="365760" cy="0.0"/>
          </a:xfrm>
          <a:prstGeom prst="line">
            <a:avLst/>
          </a:prstGeom>
          <a:ln w="12700">
            <a:solidFill>
              <a:srgbClr val="64748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0" y="2971800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1">
                <a:solidFill>
                  <a:srgbClr val="64748B"/>
                </a:solidFill>
                <a:latin typeface="Calibri"/>
                <a:ea typeface="Microsoft YaHei"/>
              </a:rPr>
              <a:t>引用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60520"/>
            <a:ext cx="38100" cy="5029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5300" y="4160520"/>
            <a:ext cx="819150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233672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E293B"/>
                </a:solidFill>
                <a:latin typeface="Calibri"/>
                <a:ea typeface="Microsoft YaHei"/>
              </a:rPr>
              <a:t>log 是唯一真相（永不删），surface 是视图（索引 + 折叠状态）。写时只校验，读时才应用 — 这是 DSH 最核心的设计。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" y="4640580"/>
            <a:ext cx="8229600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64748B"/>
                </a:solidFill>
                <a:latin typeface="Calibri"/>
                <a:ea typeface="Microsoft YaHei"/>
              </a:rPr>
              <a:t>对应文档：知识点-07 §一 · DSH 三件套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1">
                <a:solidFill>
                  <a:srgbClr val="028090"/>
                </a:solidFill>
                <a:latin typeface="Calibri"/>
                <a:ea typeface="Microsoft YaHei"/>
              </a:rPr>
              <a:t>04  深度拆解 · DSH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E293B"/>
                </a:solidFill>
                <a:latin typeface="Georgia"/>
                <a:ea typeface="Microsoft YaHei"/>
              </a:rPr>
              <a:t>三条数据流：写入 / 读取 / 恢复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87552"/>
            <a:ext cx="731520" cy="0"/>
          </a:xfrm>
          <a:prstGeom prst="line">
            <a:avLst/>
          </a:prstGeom>
          <a:ln w="31750">
            <a:solidFill>
              <a:srgbClr val="0280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955280" y="29260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  <a:ea typeface="Microsoft YaHei"/>
              </a:rPr>
              <a:t>09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914400" cy="265176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  <a:ea typeface="Microsoft YaHei"/>
              </a:rPr>
              <a:t>写入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  <a:ea typeface="Microsoft YaHei"/>
              </a:rPr>
              <a:t>一条新消息进会话</a:t>
            </a:r>
          </a:p>
        </p:txBody>
      </p:sp>
      <p:sp>
        <p:nvSpPr>
          <p:cNvPr id="9" name="Oval 8"/>
          <p:cNvSpPr/>
          <p:nvPr/>
        </p:nvSpPr>
        <p:spPr>
          <a:xfrm>
            <a:off x="1463040" y="1417320"/>
            <a:ext cx="201168" cy="201168"/>
          </a:xfrm>
          <a:prstGeom prst="ellipse">
            <a:avLst/>
          </a:prstGeom>
          <a:solidFill>
            <a:srgbClr val="ECFDF5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1426464"/>
            <a:ext cx="2011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22C55E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408176"/>
            <a:ext cx="1249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校验 → validateNext(event)</a:t>
            </a:r>
          </a:p>
        </p:txBody>
      </p:sp>
      <p:sp>
        <p:nvSpPr>
          <p:cNvPr id="12" name="Oval 11"/>
          <p:cNvSpPr/>
          <p:nvPr/>
        </p:nvSpPr>
        <p:spPr>
          <a:xfrm>
            <a:off x="1463040" y="1892808"/>
            <a:ext cx="201168" cy="201168"/>
          </a:xfrm>
          <a:prstGeom prst="ellipse">
            <a:avLst/>
          </a:prstGeom>
          <a:solidFill>
            <a:srgbClr val="ECFDF5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1901952"/>
            <a:ext cx="2011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22C55E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883664"/>
            <a:ext cx="1249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落内存 → log.push(event)</a:t>
            </a:r>
          </a:p>
        </p:txBody>
      </p:sp>
      <p:sp>
        <p:nvSpPr>
          <p:cNvPr id="15" name="Oval 14"/>
          <p:cNvSpPr/>
          <p:nvPr/>
        </p:nvSpPr>
        <p:spPr>
          <a:xfrm>
            <a:off x="1463040" y="2368296"/>
            <a:ext cx="201168" cy="201168"/>
          </a:xfrm>
          <a:prstGeom prst="ellipse">
            <a:avLst/>
          </a:prstGeom>
          <a:solidFill>
            <a:srgbClr val="ECFDF5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2377440"/>
            <a:ext cx="2011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22C55E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359152"/>
            <a:ext cx="1249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广播 → 发 session/event 事件</a:t>
            </a:r>
          </a:p>
        </p:txBody>
      </p:sp>
      <p:sp>
        <p:nvSpPr>
          <p:cNvPr id="18" name="Oval 17"/>
          <p:cNvSpPr/>
          <p:nvPr/>
        </p:nvSpPr>
        <p:spPr>
          <a:xfrm>
            <a:off x="1463040" y="2843784"/>
            <a:ext cx="201168" cy="201168"/>
          </a:xfrm>
          <a:prstGeom prst="ellipse">
            <a:avLst/>
          </a:prstGeom>
          <a:solidFill>
            <a:srgbClr val="ECFDF5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2852928"/>
            <a:ext cx="2011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22C55E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2834640"/>
            <a:ext cx="1249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持久化插件 → 追加写磁盘</a:t>
            </a:r>
          </a:p>
        </p:txBody>
      </p:sp>
      <p:sp>
        <p:nvSpPr>
          <p:cNvPr id="21" name="Oval 20"/>
          <p:cNvSpPr/>
          <p:nvPr/>
        </p:nvSpPr>
        <p:spPr>
          <a:xfrm>
            <a:off x="1463040" y="3319272"/>
            <a:ext cx="201168" cy="201168"/>
          </a:xfrm>
          <a:prstGeom prst="ellipse">
            <a:avLst/>
          </a:prstGeom>
          <a:solidFill>
            <a:srgbClr val="ECFDF5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3328416"/>
            <a:ext cx="2011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22C55E"/>
                </a:solidFill>
                <a:latin typeface="Calibri"/>
                <a:ea typeface="Microsoft Ya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3310128"/>
            <a:ext cx="1249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⚠ 视图此刻不变！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61360" y="1234440"/>
            <a:ext cx="914400" cy="26517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61360" y="219456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  <a:ea typeface="Microsoft YaHei"/>
              </a:rPr>
              <a:t>读取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61360" y="292608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  <a:ea typeface="Microsoft YaHei"/>
              </a:rPr>
              <a:t>给模型拼上下文</a:t>
            </a:r>
          </a:p>
        </p:txBody>
      </p:sp>
      <p:sp>
        <p:nvSpPr>
          <p:cNvPr id="27" name="Oval 26"/>
          <p:cNvSpPr/>
          <p:nvPr/>
        </p:nvSpPr>
        <p:spPr>
          <a:xfrm>
            <a:off x="4267200" y="1417320"/>
            <a:ext cx="201168" cy="201168"/>
          </a:xfrm>
          <a:prstGeom prst="ellipse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67200" y="1426464"/>
            <a:ext cx="2011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3B82F6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1520" y="1408176"/>
            <a:ext cx="1249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surface.nodes（惰性折叠 delta）</a:t>
            </a:r>
          </a:p>
        </p:txBody>
      </p:sp>
      <p:sp>
        <p:nvSpPr>
          <p:cNvPr id="30" name="Oval 29"/>
          <p:cNvSpPr/>
          <p:nvPr/>
        </p:nvSpPr>
        <p:spPr>
          <a:xfrm>
            <a:off x="4267200" y="1892808"/>
            <a:ext cx="201168" cy="201168"/>
          </a:xfrm>
          <a:prstGeom prst="ellipse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67200" y="1901952"/>
            <a:ext cx="2011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3B82F6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1520" y="1883664"/>
            <a:ext cx="1249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log[seq] 取事件本体</a:t>
            </a:r>
          </a:p>
        </p:txBody>
      </p:sp>
      <p:sp>
        <p:nvSpPr>
          <p:cNvPr id="33" name="Oval 32"/>
          <p:cNvSpPr/>
          <p:nvPr/>
        </p:nvSpPr>
        <p:spPr>
          <a:xfrm>
            <a:off x="4267200" y="2368296"/>
            <a:ext cx="201168" cy="201168"/>
          </a:xfrm>
          <a:prstGeom prst="ellipse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67200" y="2377440"/>
            <a:ext cx="2011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3B82F6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41520" y="2359152"/>
            <a:ext cx="1249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投影成 Message（带缓存）</a:t>
            </a:r>
          </a:p>
        </p:txBody>
      </p:sp>
      <p:sp>
        <p:nvSpPr>
          <p:cNvPr id="36" name="Oval 35"/>
          <p:cNvSpPr/>
          <p:nvPr/>
        </p:nvSpPr>
        <p:spPr>
          <a:xfrm>
            <a:off x="4267200" y="2843784"/>
            <a:ext cx="201168" cy="201168"/>
          </a:xfrm>
          <a:prstGeom prst="ellipse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67200" y="2852928"/>
            <a:ext cx="2011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3B82F6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41520" y="2834640"/>
            <a:ext cx="1249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发给模型 → 上下文拼装完成</a:t>
            </a:r>
          </a:p>
        </p:txBody>
      </p:sp>
      <p:sp>
        <p:nvSpPr>
          <p:cNvPr id="39" name="Oval 38"/>
          <p:cNvSpPr/>
          <p:nvPr/>
        </p:nvSpPr>
        <p:spPr>
          <a:xfrm>
            <a:off x="4267200" y="3319272"/>
            <a:ext cx="201168" cy="201168"/>
          </a:xfrm>
          <a:prstGeom prst="ellipse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67200" y="3328416"/>
            <a:ext cx="2011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3B82F6"/>
                </a:solidFill>
                <a:latin typeface="Calibri"/>
                <a:ea typeface="Microsoft YaHe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41520" y="3310128"/>
            <a:ext cx="1249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✅ 视图此时才更新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65520" y="1234440"/>
            <a:ext cx="914400" cy="26517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65520" y="219456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  <a:ea typeface="Microsoft YaHei"/>
              </a:rPr>
              <a:t>恢复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65520" y="292608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  <a:ea typeface="Microsoft YaHei"/>
              </a:rPr>
              <a:t>重启后重建</a:t>
            </a:r>
          </a:p>
        </p:txBody>
      </p:sp>
      <p:sp>
        <p:nvSpPr>
          <p:cNvPr id="45" name="Oval 44"/>
          <p:cNvSpPr/>
          <p:nvPr/>
        </p:nvSpPr>
        <p:spPr>
          <a:xfrm>
            <a:off x="7071360" y="1417320"/>
            <a:ext cx="201168" cy="201168"/>
          </a:xfrm>
          <a:prstGeom prst="ellipse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71360" y="1426464"/>
            <a:ext cx="2011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59E0B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45680" y="1408176"/>
            <a:ext cx="1249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磁盘文件读回 → 全部事件</a:t>
            </a:r>
          </a:p>
        </p:txBody>
      </p:sp>
      <p:sp>
        <p:nvSpPr>
          <p:cNvPr id="48" name="Oval 47"/>
          <p:cNvSpPr/>
          <p:nvPr/>
        </p:nvSpPr>
        <p:spPr>
          <a:xfrm>
            <a:off x="7071360" y="1892808"/>
            <a:ext cx="201168" cy="201168"/>
          </a:xfrm>
          <a:prstGeom prst="ellipse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71360" y="1901952"/>
            <a:ext cx="2011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59E0B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45680" y="1883664"/>
            <a:ext cx="1249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seed 构造 Session → log 填满</a:t>
            </a:r>
          </a:p>
        </p:txBody>
      </p:sp>
      <p:sp>
        <p:nvSpPr>
          <p:cNvPr id="51" name="Oval 50"/>
          <p:cNvSpPr/>
          <p:nvPr/>
        </p:nvSpPr>
        <p:spPr>
          <a:xfrm>
            <a:off x="7071360" y="2368296"/>
            <a:ext cx="201168" cy="201168"/>
          </a:xfrm>
          <a:prstGeom prst="ellipse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71360" y="2377440"/>
            <a:ext cx="2011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59E0B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45680" y="2359152"/>
            <a:ext cx="1249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首次访问 surface → 全量折叠 O(N)</a:t>
            </a:r>
          </a:p>
        </p:txBody>
      </p:sp>
      <p:sp>
        <p:nvSpPr>
          <p:cNvPr id="54" name="Oval 53"/>
          <p:cNvSpPr/>
          <p:nvPr/>
        </p:nvSpPr>
        <p:spPr>
          <a:xfrm>
            <a:off x="7071360" y="2843784"/>
            <a:ext cx="201168" cy="201168"/>
          </a:xfrm>
          <a:prstGeom prst="ellipse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71360" y="2852928"/>
            <a:ext cx="2011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59E0B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45680" y="2834640"/>
            <a:ext cx="1249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之后恢复增量 → O(新增)</a:t>
            </a:r>
          </a:p>
        </p:txBody>
      </p:sp>
      <p:sp>
        <p:nvSpPr>
          <p:cNvPr id="57" name="Oval 56"/>
          <p:cNvSpPr/>
          <p:nvPr/>
        </p:nvSpPr>
        <p:spPr>
          <a:xfrm>
            <a:off x="7071360" y="3319272"/>
            <a:ext cx="201168" cy="201168"/>
          </a:xfrm>
          <a:prstGeom prst="ellipse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71360" y="3328416"/>
            <a:ext cx="2011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59E0B"/>
                </a:solidFill>
                <a:latin typeface="Calibri"/>
                <a:ea typeface="Microsoft YaHei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45680" y="3310128"/>
            <a:ext cx="1249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顺序即状态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4023360"/>
            <a:ext cx="38100" cy="5029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5300" y="4023360"/>
            <a:ext cx="819150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4360" y="4096512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E293B"/>
                </a:solidFill>
                <a:latin typeface="Calibri"/>
                <a:ea typeface="Microsoft YaHei"/>
              </a:rPr>
              <a:t>写时零成本（只校验不动视图），读时按需补算（_processDelta）。压缩事务全部 append，真正让视图变的是事务后第一次有人读。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57200" y="4640580"/>
            <a:ext cx="8229600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64748B"/>
                </a:solidFill>
                <a:latin typeface="Calibri"/>
                <a:ea typeface="Microsoft YaHei"/>
              </a:rPr>
              <a:t>对应文档：知识点-07 §二 · 三条数据流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1">
                <a:solidFill>
                  <a:srgbClr val="028090"/>
                </a:solidFill>
                <a:latin typeface="Calibri"/>
                <a:ea typeface="Microsoft YaHei"/>
              </a:rPr>
              <a:t>04  深度拆解 · DSH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E293B"/>
                </a:solidFill>
                <a:latin typeface="Georgia"/>
                <a:ea typeface="Microsoft YaHei"/>
              </a:rPr>
              <a:t>压缩事务：10 步顺序（锁 + 日志 + 替换）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87552"/>
            <a:ext cx="731520" cy="0"/>
          </a:xfrm>
          <a:prstGeom prst="line">
            <a:avLst/>
          </a:prstGeom>
          <a:ln w="31750">
            <a:solidFill>
              <a:srgbClr val="0280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955280" y="29260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  <a:ea typeface="Microsoft YaHei"/>
              </a:rPr>
              <a:t>10 / 18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188720"/>
            <a:ext cx="274320" cy="27432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25296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028090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197864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E293B"/>
                </a:solidFill>
                <a:latin typeface="Calibri"/>
                <a:ea typeface="Microsoft YaHei"/>
              </a:rPr>
              <a:t>校验范围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89888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  <a:ea typeface="Microsoft YaHei"/>
              </a:rPr>
              <a:t>存在、顺序、两端 tool-pairing 平衡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225296"/>
            <a:ext cx="640080" cy="201168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243584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3B82F6"/>
                </a:solidFill>
                <a:latin typeface="Calibri"/>
                <a:ea typeface="Microsoft YaHei"/>
              </a:rPr>
              <a:t>校验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1645920"/>
            <a:ext cx="274320" cy="27432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82496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028090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655064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E293B"/>
                </a:solidFill>
                <a:latin typeface="Calibri"/>
                <a:ea typeface="Microsoft YaHei"/>
              </a:rPr>
              <a:t>检查锁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847088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  <a:ea typeface="Microsoft YaHei"/>
              </a:rPr>
              <a:t>有未闭合 start = busy，拒绝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1682496"/>
            <a:ext cx="640080" cy="201168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1700784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EF4444"/>
                </a:solidFill>
                <a:latin typeface="Calibri"/>
                <a:ea typeface="Microsoft YaHei"/>
              </a:rPr>
              <a:t>锁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2103120"/>
            <a:ext cx="274320" cy="27432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39696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028090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112264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E293B"/>
                </a:solidFill>
                <a:latin typeface="Calibri"/>
                <a:ea typeface="Microsoft YaHei"/>
              </a:rPr>
              <a:t>append start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304288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  <a:ea typeface="Microsoft YaHei"/>
              </a:rPr>
              <a:t>durable 锁（落日志），此时才允许 yield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2139696"/>
            <a:ext cx="640080" cy="201168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2157984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F59E0B"/>
                </a:solidFill>
                <a:latin typeface="Calibri"/>
                <a:ea typeface="Microsoft YaHei"/>
              </a:rPr>
              <a:t>log-only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2560320"/>
            <a:ext cx="274320" cy="27432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596896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028090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2569464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E293B"/>
                </a:solidFill>
                <a:latin typeface="Calibri"/>
                <a:ea typeface="Microsoft YaHei"/>
              </a:rPr>
              <a:t>prepareCompaction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2761488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  <a:ea typeface="Microsoft YaHei"/>
              </a:rPr>
              <a:t>重新定价 + 构建总结输入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2596896"/>
            <a:ext cx="640080" cy="201168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0" y="2615184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22C55E"/>
                </a:solidFill>
                <a:latin typeface="Calibri"/>
                <a:ea typeface="Microsoft YaHei"/>
              </a:rPr>
              <a:t>计算</a:t>
            </a:r>
          </a:p>
        </p:txBody>
      </p:sp>
      <p:sp>
        <p:nvSpPr>
          <p:cNvPr id="30" name="Oval 29"/>
          <p:cNvSpPr/>
          <p:nvPr/>
        </p:nvSpPr>
        <p:spPr>
          <a:xfrm>
            <a:off x="457200" y="3017520"/>
            <a:ext cx="274320" cy="27432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054096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028090"/>
                </a:solidFill>
                <a:latin typeface="Calibri"/>
                <a:ea typeface="Microsoft YaHe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3026664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E293B"/>
                </a:solidFill>
                <a:latin typeface="Calibri"/>
                <a:ea typeface="Microsoft YaHei"/>
              </a:rPr>
              <a:t>summarizeCompaction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3218688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  <a:ea typeface="Microsoft YaHei"/>
              </a:rPr>
              <a:t>调 LLM（异步，可能被中断）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3054096"/>
            <a:ext cx="640080" cy="201168"/>
          </a:xfrm>
          <a:prstGeom prst="rect">
            <a:avLst/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80" y="3072384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8B5CF6"/>
                </a:solidFill>
                <a:latin typeface="Calibri"/>
                <a:ea typeface="Microsoft YaHei"/>
              </a:rPr>
              <a:t>LLM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931920.0" y="3154680"/>
            <a:ext cx="914400.0" cy="0"/>
          </a:xfrm>
          <a:prstGeom prst="line">
            <a:avLst/>
          </a:prstGeom>
          <a:ln w="19050">
            <a:solidFill>
              <a:srgbClr val="64748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846320.0" y="1325880"/>
            <a:ext cx="0.0" cy="1828800"/>
          </a:xfrm>
          <a:prstGeom prst="line">
            <a:avLst/>
          </a:prstGeom>
          <a:ln w="19050">
            <a:solidFill>
              <a:srgbClr val="64748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206240" y="2971800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1">
                <a:solidFill>
                  <a:srgbClr val="64748B"/>
                </a:solidFill>
                <a:latin typeface="Calibri"/>
                <a:ea typeface="Microsoft YaHei"/>
              </a:rPr>
              <a:t>异步返回后</a:t>
            </a:r>
          </a:p>
        </p:txBody>
      </p:sp>
      <p:sp>
        <p:nvSpPr>
          <p:cNvPr id="39" name="Oval 38"/>
          <p:cNvSpPr/>
          <p:nvPr/>
        </p:nvSpPr>
        <p:spPr>
          <a:xfrm>
            <a:off x="5212080" y="1188720"/>
            <a:ext cx="274320" cy="27432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12080" y="1225296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028090"/>
                </a:solidFill>
                <a:latin typeface="Calibri"/>
                <a:ea typeface="Microsoft YaHe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1197864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E293B"/>
                </a:solidFill>
                <a:latin typeface="Calibri"/>
                <a:ea typeface="Microsoft YaHei"/>
              </a:rPr>
              <a:t>稳定性检查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1389888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  <a:ea typeface="Microsoft YaHei"/>
              </a:rPr>
              <a:t>surface 变没变？自动=全量，手动=区间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0" y="1225296"/>
            <a:ext cx="640080" cy="201168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80" y="1243584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3B82F6"/>
                </a:solidFill>
                <a:latin typeface="Calibri"/>
                <a:ea typeface="Microsoft YaHei"/>
              </a:rPr>
              <a:t>校验</a:t>
            </a:r>
          </a:p>
        </p:txBody>
      </p:sp>
      <p:sp>
        <p:nvSpPr>
          <p:cNvPr id="45" name="Oval 44"/>
          <p:cNvSpPr/>
          <p:nvPr/>
        </p:nvSpPr>
        <p:spPr>
          <a:xfrm>
            <a:off x="5212080" y="1645920"/>
            <a:ext cx="274320" cy="27432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12080" y="1682496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028090"/>
                </a:solidFill>
                <a:latin typeface="Calibri"/>
                <a:ea typeface="Microsoft YaHei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77840" y="1655064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E293B"/>
                </a:solidFill>
                <a:latin typeface="Calibri"/>
                <a:ea typeface="Microsoft YaHei"/>
              </a:rPr>
              <a:t>append summary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77840" y="1847088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  <a:ea typeface="Microsoft YaHei"/>
              </a:rPr>
              <a:t>log-only，记录内容/影子价格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80" y="1682496"/>
            <a:ext cx="640080" cy="201168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98080" y="1700784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F59E0B"/>
                </a:solidFill>
                <a:latin typeface="Calibri"/>
                <a:ea typeface="Microsoft YaHei"/>
              </a:rPr>
              <a:t>log-only</a:t>
            </a:r>
          </a:p>
        </p:txBody>
      </p:sp>
      <p:sp>
        <p:nvSpPr>
          <p:cNvPr id="51" name="Oval 50"/>
          <p:cNvSpPr/>
          <p:nvPr/>
        </p:nvSpPr>
        <p:spPr>
          <a:xfrm>
            <a:off x="5212080" y="2103120"/>
            <a:ext cx="274320" cy="27432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12080" y="2139696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028090"/>
                </a:solidFill>
                <a:latin typeface="Calibri"/>
                <a:ea typeface="Microsoft YaHei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77840" y="2112264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E293B"/>
                </a:solidFill>
                <a:latin typeface="Calibri"/>
                <a:ea typeface="Microsoft YaHei"/>
              </a:rPr>
              <a:t>append user/replace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77840" y="2304288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  <a:ea typeface="Microsoft YaHei"/>
              </a:rPr>
              <a:t>真正的 surface 替换！带 checkpoint source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98080" y="2139696"/>
            <a:ext cx="640080" cy="201168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98080" y="2157984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3B82F6"/>
                </a:solidFill>
                <a:latin typeface="Calibri"/>
                <a:ea typeface="Microsoft YaHei"/>
              </a:rPr>
              <a:t>替换视图</a:t>
            </a:r>
          </a:p>
        </p:txBody>
      </p:sp>
      <p:sp>
        <p:nvSpPr>
          <p:cNvPr id="57" name="Oval 56"/>
          <p:cNvSpPr/>
          <p:nvPr/>
        </p:nvSpPr>
        <p:spPr>
          <a:xfrm>
            <a:off x="5212080" y="2560320"/>
            <a:ext cx="274320" cy="27432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12080" y="2596896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028090"/>
                </a:solidFill>
                <a:latin typeface="Calibri"/>
                <a:ea typeface="Microsoft YaHei"/>
              </a:rPr>
              <a:t>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77840" y="2569464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E293B"/>
                </a:solidFill>
                <a:latin typeface="Calibri"/>
                <a:ea typeface="Microsoft YaHei"/>
              </a:rPr>
              <a:t>append end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77840" y="2761488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  <a:ea typeface="Microsoft YaHei"/>
              </a:rPr>
              <a:t>释放锁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98080" y="2596896"/>
            <a:ext cx="640080" cy="201168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98080" y="2615184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F59E0B"/>
                </a:solidFill>
                <a:latin typeface="Calibri"/>
                <a:ea typeface="Microsoft YaHei"/>
              </a:rPr>
              <a:t>log-only</a:t>
            </a:r>
          </a:p>
        </p:txBody>
      </p:sp>
      <p:sp>
        <p:nvSpPr>
          <p:cNvPr id="63" name="Oval 62"/>
          <p:cNvSpPr/>
          <p:nvPr/>
        </p:nvSpPr>
        <p:spPr>
          <a:xfrm>
            <a:off x="5212080" y="3017520"/>
            <a:ext cx="274320" cy="27432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212080" y="3054096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028090"/>
                </a:solidFill>
                <a:latin typeface="Calibri"/>
                <a:ea typeface="Microsoft YaHei"/>
              </a:rPr>
              <a:t>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77840" y="3026664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E293B"/>
                </a:solidFill>
                <a:latin typeface="Calibri"/>
                <a:ea typeface="Microsoft YaHei"/>
              </a:rPr>
              <a:t>flush()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77840" y="3218688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  <a:ea typeface="Microsoft YaHei"/>
              </a:rPr>
              <a:t>手动路径：持久化 checkpoint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98080" y="3054096"/>
            <a:ext cx="640080" cy="20116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98080" y="3072384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64748B"/>
                </a:solidFill>
                <a:latin typeface="Calibri"/>
                <a:ea typeface="Microsoft YaHei"/>
              </a:rPr>
              <a:t>其他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166360" y="2075688"/>
            <a:ext cx="5212080" cy="384048"/>
          </a:xfrm>
          <a:prstGeom prst="rect">
            <a:avLst/>
          </a:prstGeom>
          <a:noFill/>
          <a:ln w="317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869680" y="2487168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 i="1">
                <a:solidFill>
                  <a:srgbClr val="3B82F6"/>
                </a:solidFill>
                <a:latin typeface="Calibri"/>
                <a:ea typeface="Microsoft YaHei"/>
              </a:rPr>
              <a:t>← 真正改写 surface 的一步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4160520"/>
            <a:ext cx="38100" cy="5029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95300" y="4160520"/>
            <a:ext cx="819150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4360" y="4233672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E293B"/>
                </a:solidFill>
                <a:latin typeface="Calibri"/>
                <a:ea typeface="Microsoft YaHei"/>
              </a:rPr>
              <a:t>start/summary/end 三个事件都是 log-only（不进 surface），真正改写会话表面的是第 8 步 user/message(replace)。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457200" y="4640580"/>
            <a:ext cx="8229600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64748B"/>
                </a:solidFill>
                <a:latin typeface="Calibri"/>
                <a:ea typeface="Microsoft YaHei"/>
              </a:rPr>
              <a:t>对应文档：知识点-06 §三 · 压缩事务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1">
                <a:solidFill>
                  <a:srgbClr val="028090"/>
                </a:solidFill>
                <a:latin typeface="Calibri"/>
                <a:ea typeface="Microsoft YaHei"/>
              </a:rPr>
              <a:t>04  深度拆解 · DSH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E293B"/>
                </a:solidFill>
                <a:latin typeface="Georgia"/>
                <a:ea typeface="Microsoft YaHei"/>
              </a:rPr>
              <a:t>KV cache：为什么「只取前 100 条」能命中「200 条的缓存」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87552"/>
            <a:ext cx="731520" cy="0"/>
          </a:xfrm>
          <a:prstGeom prst="line">
            <a:avLst/>
          </a:prstGeom>
          <a:ln w="31750">
            <a:solidFill>
              <a:srgbClr val="0280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955280" y="29260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  <a:ea typeface="Microsoft YaHei"/>
              </a:rPr>
              <a:t>11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8229600" cy="1554480"/>
          </a:xfrm>
          <a:prstGeom prst="rect">
            <a:avLst/>
          </a:prstGeom>
          <a:solidFill>
            <a:srgbClr val="ECFDF5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25296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✅ 前缀命中：总结请求 = 原 200 条前缀 + 末尾追加指令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1645920" cy="502920"/>
          </a:xfrm>
          <a:prstGeom prst="rect">
            <a:avLst/>
          </a:prstGeom>
          <a:solidFill>
            <a:srgbClr val="D1FAE5"/>
          </a:solidFill>
          <a:ln w="254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22C55E"/>
                </a:solidFill>
                <a:latin typeface="Calibri"/>
                <a:ea typeface="Microsoft YaHei"/>
              </a:rPr>
              <a:t>system +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645920"/>
            <a:ext cx="4572000" cy="502920"/>
          </a:xfrm>
          <a:prstGeom prst="rect">
            <a:avLst/>
          </a:prstGeom>
          <a:solidFill>
            <a:srgbClr val="D1FAE5"/>
          </a:solidFill>
          <a:ln w="254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169164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22C55E"/>
                </a:solidFill>
                <a:latin typeface="Calibri"/>
                <a:ea typeface="Microsoft YaHei"/>
              </a:rPr>
              <a:t>被压缩区间消息（前 100 条）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920240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166534"/>
                </a:solidFill>
                <a:latin typeface="Calibri"/>
                <a:ea typeface="Microsoft YaHei"/>
              </a:rPr>
              <a:t>K/V 只依赖前面 → 与完整请求一模一样 → 直接复用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0" y="1645920"/>
            <a:ext cx="1645920" cy="502920"/>
          </a:xfrm>
          <a:prstGeom prst="rect">
            <a:avLst/>
          </a:prstGeom>
          <a:solidFill>
            <a:srgbClr val="FEF3C7"/>
          </a:solidFill>
          <a:ln w="317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1691640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59E0B"/>
                </a:solidFill>
                <a:latin typeface="Calibri"/>
                <a:ea typeface="Microsoft YaHei"/>
              </a:rPr>
              <a:t>新指令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920240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92400E"/>
                </a:solidFill>
                <a:latin typeface="Calibri"/>
                <a:ea typeface="Microsoft YaHei"/>
              </a:rPr>
              <a:t>COMPACTION_INSTRUCTION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240280"/>
            <a:ext cx="7772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4748B"/>
                </a:solidFill>
                <a:latin typeface="Calibri"/>
                <a:ea typeface="Microsoft YaHei"/>
              </a:rPr>
              <a:t>←────── 复用缓存，零重算 ──────→              只算这一小截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42316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64748B"/>
                </a:solidFill>
                <a:latin typeface="Calibri"/>
                <a:ea typeface="Microsoft YaHei"/>
              </a:rPr>
              <a:t>因果注意力：token i 的 K/V 只依赖 1..i。两边前缀逐字节相同 → 前 100 条 K/V 一模一样 → 直接复用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34640"/>
            <a:ext cx="8229600" cy="118872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871216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❌ 前缀破坏：中间改了一个字，后面全部失效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" y="3246120"/>
            <a:ext cx="1371600" cy="457200"/>
          </a:xfrm>
          <a:prstGeom prst="rect">
            <a:avLst/>
          </a:prstGeom>
          <a:solidFill>
            <a:srgbClr val="D1FAE5"/>
          </a:solidFill>
          <a:ln w="254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" y="3355848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22C55E"/>
                </a:solidFill>
                <a:latin typeface="Calibri"/>
                <a:ea typeface="Microsoft YaHei"/>
              </a:rPr>
              <a:t>system+tools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71700" y="3246120"/>
            <a:ext cx="1188720" cy="457200"/>
          </a:xfrm>
          <a:prstGeom prst="rect">
            <a:avLst/>
          </a:prstGeom>
          <a:solidFill>
            <a:srgbClr val="FEE2E2"/>
          </a:solidFill>
          <a:ln w="317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71700" y="3355848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EF4444"/>
                </a:solidFill>
                <a:latin typeface="Calibri"/>
                <a:ea typeface="Microsoft YaHei"/>
              </a:rPr>
              <a:t>改了一个字!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97580" y="3246120"/>
            <a:ext cx="347472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97580" y="3355848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EF4444"/>
                </a:solidFill>
                <a:latin typeface="Calibri"/>
                <a:ea typeface="Microsoft YaHei"/>
              </a:rPr>
              <a:t>从改动点起，K/V 全部作废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09460" y="3246120"/>
            <a:ext cx="137160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09460" y="3355848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EF4444"/>
                </a:solidFill>
                <a:latin typeface="Calibri"/>
                <a:ea typeface="Microsoft YaHei"/>
              </a:rPr>
              <a:t>新指令也重算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74904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64748B"/>
                </a:solidFill>
                <a:latin typeface="Calibri"/>
                <a:ea typeface="Microsoft YaHei"/>
              </a:rPr>
              <a:t>token 的表示依赖前面所有 token。前缀中间某个 token 变了 → 后面每个 token 都「看过」它 → 表示全变 → 缓存全作废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7200" y="4640580"/>
            <a:ext cx="8229600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64748B"/>
                </a:solidFill>
                <a:latin typeface="Calibri"/>
                <a:ea typeface="Microsoft YaHei"/>
              </a:rPr>
              <a:t>对应文档：知识点-06 §九 · KV cache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1">
                <a:solidFill>
                  <a:srgbClr val="028090"/>
                </a:solidFill>
                <a:latin typeface="Calibri"/>
                <a:ea typeface="Microsoft YaHei"/>
              </a:rPr>
              <a:t>04  深度拆解 · 我们的实现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E293B"/>
                </a:solidFill>
                <a:latin typeface="Georgia"/>
                <a:ea typeface="Microsoft YaHei"/>
              </a:rPr>
              <a:t>三步走：prepare → generate → commit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87552"/>
            <a:ext cx="731520" cy="0"/>
          </a:xfrm>
          <a:prstGeom prst="line">
            <a:avLst/>
          </a:prstGeom>
          <a:ln w="31750">
            <a:solidFill>
              <a:srgbClr val="0280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955280" y="29260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  <a:ea typeface="Microsoft YaHei"/>
              </a:rPr>
              <a:t>12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2590800" cy="5029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457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FFFFFF"/>
                </a:solidFill>
                <a:latin typeface="Georgia"/>
                <a:ea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07592"/>
            <a:ext cx="185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  <a:ea typeface="Microsoft YaHei"/>
              </a:rPr>
              <a:t>准备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536192"/>
            <a:ext cx="1859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FFFFFF"/>
                </a:solidFill>
                <a:latin typeface="Calibri"/>
                <a:ea typeface="Microsoft YaHei"/>
              </a:rPr>
              <a:t>纯计算，不碰模型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2590800" cy="50292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01952"/>
            <a:ext cx="2316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>
                <a:solidFill>
                  <a:srgbClr val="028090"/>
                </a:solidFill>
                <a:latin typeface="Calibri"/>
                <a:ea typeface="Microsoft YaHei"/>
              </a:rPr>
              <a:t>lib/session/store.ts
· prepareCompaction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2478024"/>
            <a:ext cx="73152" cy="73152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423160"/>
            <a:ext cx="2179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估算 token，没超 → 不压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770632"/>
            <a:ext cx="73152" cy="73152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715768"/>
            <a:ext cx="2179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找上次摘要（增量用）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3063240"/>
            <a:ext cx="73152" cy="73152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008376"/>
            <a:ext cx="2179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选切点：保留最近 N 条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355848"/>
            <a:ext cx="73152" cy="73152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300984"/>
            <a:ext cx="2179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while 切点在 tool 前移</a:t>
            </a:r>
          </a:p>
        </p:txBody>
      </p:sp>
      <p:sp>
        <p:nvSpPr>
          <p:cNvPr id="20" name="Oval 19"/>
          <p:cNvSpPr/>
          <p:nvPr/>
        </p:nvSpPr>
        <p:spPr>
          <a:xfrm>
            <a:off x="594360" y="3648456"/>
            <a:ext cx="73152" cy="73152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93592"/>
            <a:ext cx="2179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返回 messagesToSummarize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093720.0" y="1481328"/>
            <a:ext cx="137160.0" cy="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3276600" y="1234440"/>
            <a:ext cx="2590800" cy="50292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13760" y="1280160"/>
            <a:ext cx="457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FFFFFF"/>
                </a:solidFill>
                <a:latin typeface="Georgia"/>
                <a:ea typeface="Microsoft YaHe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6680" y="1307592"/>
            <a:ext cx="185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  <a:ea typeface="Microsoft YaHei"/>
              </a:rPr>
              <a:t>生成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16680" y="1536192"/>
            <a:ext cx="1859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FFFFFF"/>
                </a:solidFill>
                <a:latin typeface="Calibri"/>
                <a:ea typeface="Microsoft YaHei"/>
              </a:rPr>
              <a:t>调模型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76600" y="1828800"/>
            <a:ext cx="2590800" cy="5029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13760" y="1901952"/>
            <a:ext cx="2316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>
                <a:solidFill>
                  <a:srgbClr val="22C55E"/>
                </a:solidFill>
                <a:latin typeface="Calibri"/>
                <a:ea typeface="Microsoft YaHei"/>
              </a:rPr>
              <a:t>lib/summarize.ts
· generateSummary</a:t>
            </a:r>
          </a:p>
        </p:txBody>
      </p:sp>
      <p:sp>
        <p:nvSpPr>
          <p:cNvPr id="29" name="Oval 28"/>
          <p:cNvSpPr/>
          <p:nvPr/>
        </p:nvSpPr>
        <p:spPr>
          <a:xfrm>
            <a:off x="3413760" y="2478024"/>
            <a:ext cx="73152" cy="7315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9208" y="2423160"/>
            <a:ext cx="2179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序列化：消息 → 纯文本</a:t>
            </a:r>
          </a:p>
        </p:txBody>
      </p:sp>
      <p:sp>
        <p:nvSpPr>
          <p:cNvPr id="31" name="Oval 30"/>
          <p:cNvSpPr/>
          <p:nvPr/>
        </p:nvSpPr>
        <p:spPr>
          <a:xfrm>
            <a:off x="3413760" y="2770632"/>
            <a:ext cx="73152" cy="7315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9208" y="2715768"/>
            <a:ext cx="2179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调模型：systemPrompt + 消息</a:t>
            </a:r>
          </a:p>
        </p:txBody>
      </p:sp>
      <p:sp>
        <p:nvSpPr>
          <p:cNvPr id="33" name="Oval 32"/>
          <p:cNvSpPr/>
          <p:nvPr/>
        </p:nvSpPr>
        <p:spPr>
          <a:xfrm>
            <a:off x="3413760" y="3063240"/>
            <a:ext cx="73152" cy="7315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9208" y="3008376"/>
            <a:ext cx="2179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previousSummary 增量更新</a:t>
            </a:r>
          </a:p>
        </p:txBody>
      </p:sp>
      <p:sp>
        <p:nvSpPr>
          <p:cNvPr id="35" name="Oval 34"/>
          <p:cNvSpPr/>
          <p:nvPr/>
        </p:nvSpPr>
        <p:spPr>
          <a:xfrm>
            <a:off x="3413760" y="3355848"/>
            <a:ext cx="73152" cy="7315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9208" y="3300984"/>
            <a:ext cx="2179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失败检查：error → null</a:t>
            </a:r>
          </a:p>
        </p:txBody>
      </p:sp>
      <p:sp>
        <p:nvSpPr>
          <p:cNvPr id="37" name="Oval 36"/>
          <p:cNvSpPr/>
          <p:nvPr/>
        </p:nvSpPr>
        <p:spPr>
          <a:xfrm>
            <a:off x="3413760" y="3648456"/>
            <a:ext cx="73152" cy="7315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69208" y="3593592"/>
            <a:ext cx="2179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摘要为空 → null（安全兜底）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913120.0" y="1481328"/>
            <a:ext cx="137160.0" cy="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096000" y="1234440"/>
            <a:ext cx="2590800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33160" y="1280160"/>
            <a:ext cx="457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FFFFFF"/>
                </a:solidFill>
                <a:latin typeface="Georgia"/>
                <a:ea typeface="Microsoft YaHe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36080" y="1307592"/>
            <a:ext cx="185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  <a:ea typeface="Microsoft YaHei"/>
              </a:rPr>
              <a:t>落盘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36080" y="1536192"/>
            <a:ext cx="1859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FFFFFF"/>
                </a:solidFill>
                <a:latin typeface="Calibri"/>
                <a:ea typeface="Microsoft YaHei"/>
              </a:rPr>
              <a:t>存进文件 + 接线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96000" y="1828800"/>
            <a:ext cx="2590800" cy="50292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33160" y="1901952"/>
            <a:ext cx="2316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>
                <a:solidFill>
                  <a:srgbClr val="F59E0B"/>
                </a:solidFill>
                <a:latin typeface="Calibri"/>
                <a:ea typeface="Microsoft YaHei"/>
              </a:rPr>
              <a:t>lib/session/store.ts
· commitCompaction</a:t>
            </a:r>
          </a:p>
        </p:txBody>
      </p:sp>
      <p:sp>
        <p:nvSpPr>
          <p:cNvPr id="46" name="Oval 45"/>
          <p:cNvSpPr/>
          <p:nvPr/>
        </p:nvSpPr>
        <p:spPr>
          <a:xfrm>
            <a:off x="6233160" y="2478024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88608" y="2423160"/>
            <a:ext cx="2179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append compaction entry</a:t>
            </a:r>
          </a:p>
        </p:txBody>
      </p:sp>
      <p:sp>
        <p:nvSpPr>
          <p:cNvPr id="48" name="Oval 47"/>
          <p:cNvSpPr/>
          <p:nvPr/>
        </p:nvSpPr>
        <p:spPr>
          <a:xfrm>
            <a:off x="6233160" y="2770632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88608" y="2715768"/>
            <a:ext cx="2179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summary / tokensBefore</a:t>
            </a:r>
          </a:p>
        </p:txBody>
      </p:sp>
      <p:sp>
        <p:nvSpPr>
          <p:cNvPr id="50" name="Oval 49"/>
          <p:cNvSpPr/>
          <p:nvPr/>
        </p:nvSpPr>
        <p:spPr>
          <a:xfrm>
            <a:off x="6233160" y="3063240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88608" y="3008376"/>
            <a:ext cx="2179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firstKeptEntryId 指针</a:t>
            </a:r>
          </a:p>
        </p:txBody>
      </p:sp>
      <p:sp>
        <p:nvSpPr>
          <p:cNvPr id="52" name="Oval 51"/>
          <p:cNvSpPr/>
          <p:nvPr/>
        </p:nvSpPr>
        <p:spPr>
          <a:xfrm>
            <a:off x="6233160" y="3355848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88608" y="3300984"/>
            <a:ext cx="2179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消息仍在文件（只追加）</a:t>
            </a:r>
          </a:p>
        </p:txBody>
      </p:sp>
      <p:sp>
        <p:nvSpPr>
          <p:cNvPr id="54" name="Oval 53"/>
          <p:cNvSpPr/>
          <p:nvPr/>
        </p:nvSpPr>
        <p:spPr>
          <a:xfrm>
            <a:off x="6233160" y="3648456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88608" y="3593592"/>
            <a:ext cx="2179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buildContext 过滤旧消息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114800"/>
            <a:ext cx="38100" cy="5029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5300" y="4114800"/>
            <a:ext cx="819150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" y="4187952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E293B"/>
                </a:solidFill>
                <a:latin typeface="Calibri"/>
                <a:ea typeface="Microsoft YaHei"/>
              </a:rPr>
              <a:t>①③ 是纯逻辑（可单独测试），② 是唯一碰模型的地方。和 pi 的 prepare → compact → 落盘 完全对齐 — 三步分离是教科书做法。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57200" y="4640580"/>
            <a:ext cx="8229600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64748B"/>
                </a:solidFill>
                <a:latin typeface="Calibri"/>
                <a:ea typeface="Microsoft YaHei"/>
              </a:rPr>
              <a:t>对应文档：知识点-03 §五 · 三步实现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1">
                <a:solidFill>
                  <a:srgbClr val="028090"/>
                </a:solidFill>
                <a:latin typeface="Calibri"/>
                <a:ea typeface="Microsoft YaHei"/>
              </a:rPr>
              <a:t>04  深度拆解 · 我们的实现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E293B"/>
                </a:solidFill>
                <a:latin typeface="Georgia"/>
                <a:ea typeface="Microsoft YaHei"/>
              </a:rPr>
              <a:t>增量更新：多次压缩为什么不丢信息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87552"/>
            <a:ext cx="731520" cy="0"/>
          </a:xfrm>
          <a:prstGeom prst="line">
            <a:avLst/>
          </a:prstGeom>
          <a:ln w="31750">
            <a:solidFill>
              <a:srgbClr val="0280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955280" y="29260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  <a:ea typeface="Microsoft YaHei"/>
              </a:rPr>
              <a:t>13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822960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25296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第一次压缩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554480"/>
            <a:ext cx="2560320" cy="77724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59E0B"/>
                </a:solidFill>
                <a:latin typeface="Calibri"/>
                <a:ea typeface="Microsoft YaHei"/>
              </a:rPr>
              <a:t>原始对话消息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4708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92400E"/>
                </a:solidFill>
                <a:latin typeface="Calibri"/>
                <a:ea typeface="Microsoft YaHei"/>
              </a:rPr>
              <a:t>[User]: 帮我写排序
[Assistant]: 好的…
[Tool result]: 已写入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66160" y="1943100.0"/>
            <a:ext cx="274320" cy="0.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11880" y="1760220"/>
            <a:ext cx="274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64748B"/>
                </a:solidFill>
                <a:latin typeface="Calibri"/>
                <a:ea typeface="Microsoft YaHei"/>
              </a:rPr>
              <a:t>压缩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1554480"/>
            <a:ext cx="2560320" cy="777240"/>
          </a:xfrm>
          <a:prstGeom prst="rect">
            <a:avLst/>
          </a:prstGeom>
          <a:solidFill>
            <a:srgbClr val="DBEAFE"/>
          </a:solidFill>
          <a:ln w="317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1600200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B82F6"/>
                </a:solidFill>
                <a:latin typeface="Calibri"/>
                <a:ea typeface="Microsoft YaHei"/>
              </a:rPr>
              <a:t>摘要 #1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184708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## Goal
用户要一个排序算法
## Progress: 已完成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1554480"/>
            <a:ext cx="2011680" cy="777240"/>
          </a:xfrm>
          <a:prstGeom prst="rect">
            <a:avLst/>
          </a:prstGeom>
          <a:solidFill>
            <a:srgbClr val="DCFCE7"/>
          </a:solidFill>
          <a:ln w="254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1600200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22C55E"/>
                </a:solidFill>
                <a:latin typeface="Calibri"/>
                <a:ea typeface="Microsoft YaHei"/>
              </a:rPr>
              <a:t>新消息（第一轮后）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1847088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166534"/>
                </a:solidFill>
                <a:latin typeface="Calibri"/>
                <a:ea typeface="Microsoft YaHei"/>
              </a:rPr>
              <a:t>[User]: 改成降序
[Assistant]: 好的…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8229600" cy="1371600"/>
          </a:xfrm>
          <a:prstGeom prst="rect">
            <a:avLst/>
          </a:prstGeom>
          <a:solidFill>
            <a:srgbClr val="ECFDF5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642616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第二次压缩 — 模型看到的输入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017520"/>
            <a:ext cx="2011680" cy="777240"/>
          </a:xfrm>
          <a:prstGeom prst="rect">
            <a:avLst/>
          </a:prstGeom>
          <a:solidFill>
            <a:srgbClr val="DCFCE7"/>
          </a:solidFill>
          <a:ln w="254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063240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22C55E"/>
                </a:solidFill>
                <a:latin typeface="Calibri"/>
                <a:ea typeface="Microsoft YaHei"/>
              </a:rPr>
              <a:t>新消息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3375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64748B"/>
                </a:solidFill>
                <a:latin typeface="Calibri"/>
                <a:ea typeface="Microsoft YaHei"/>
              </a:rPr>
              <a:t>&lt;conversation&gt; 标签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3017520"/>
            <a:ext cx="2560320" cy="777240"/>
          </a:xfrm>
          <a:prstGeom prst="rect">
            <a:avLst/>
          </a:prstGeom>
          <a:solidFill>
            <a:srgbClr val="DBEAFE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3063240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B82F6"/>
                </a:solidFill>
                <a:latin typeface="Calibri"/>
                <a:ea typeface="Microsoft YaHei"/>
              </a:rPr>
              <a:t>上一次摘要 #1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333756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64748B"/>
                </a:solidFill>
                <a:latin typeface="Calibri"/>
                <a:ea typeface="Microsoft YaHei"/>
              </a:rPr>
              <a:t>&lt;previous-summary&gt; 标签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852160" y="3401568"/>
            <a:ext cx="274320" cy="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217920" y="3017520"/>
            <a:ext cx="2560320" cy="777240"/>
          </a:xfrm>
          <a:prstGeom prst="rect">
            <a:avLst/>
          </a:prstGeom>
          <a:solidFill>
            <a:srgbClr val="F3E8FF"/>
          </a:solidFill>
          <a:ln w="317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3063240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8B5CF6"/>
                </a:solidFill>
                <a:latin typeface="Calibri"/>
                <a:ea typeface="Microsoft YaHei"/>
              </a:rPr>
              <a:t>摘要 #2（更新版）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33756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旧信息保留 + 新进展合并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160520"/>
            <a:ext cx="38100" cy="5029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95300" y="4160520"/>
            <a:ext cx="819150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233672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E293B"/>
                </a:solidFill>
                <a:latin typeface="Calibri"/>
                <a:ea typeface="Microsoft YaHei"/>
              </a:rPr>
              <a:t>类比：没有增量 = 每次写周报只看本周记录 → 上周目标全没了；有增量 = 每次附上上周周报 → 越写越完整。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57200" y="4640580"/>
            <a:ext cx="8229600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64748B"/>
                </a:solidFill>
                <a:latin typeface="Calibri"/>
                <a:ea typeface="Microsoft YaHei"/>
              </a:rPr>
              <a:t>对应文档：知识点-03 §六 · 增量更新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1">
                <a:solidFill>
                  <a:srgbClr val="028090"/>
                </a:solidFill>
                <a:latin typeface="Calibri"/>
                <a:ea typeface="Microsoft YaHei"/>
              </a:rPr>
              <a:t>04  深度拆解 · 设计思考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E293B"/>
                </a:solidFill>
                <a:latin typeface="Georgia"/>
                <a:ea typeface="Microsoft YaHei"/>
              </a:rPr>
              <a:t>存储模型决定设计：我们为什么「不抄」pi 的 retainedTail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87552"/>
            <a:ext cx="731520" cy="0"/>
          </a:xfrm>
          <a:prstGeom prst="line">
            <a:avLst/>
          </a:prstGeom>
          <a:ln w="31750">
            <a:solidFill>
              <a:srgbClr val="0280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955280" y="29260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  <a:ea typeface="Microsoft YaHei"/>
              </a:rPr>
              <a:t>14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39776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3977640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293B"/>
                </a:solidFill>
                <a:latin typeface="Georgia"/>
                <a:ea typeface="Microsoft YaHei"/>
              </a:rPr>
              <a:t>pi（物理删除）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20"/>
            <a:ext cx="3611880" cy="32004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47672"/>
            <a:ext cx="3611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  <a:ea typeface="Microsoft YaHei"/>
              </a:rPr>
              <a:t>压缩前：msg1 | msg2 | … | msg200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46020.0" y="2240280"/>
            <a:ext cx="0.0" cy="137160"/>
          </a:xfrm>
          <a:prstGeom prst="line">
            <a:avLst/>
          </a:prstGeom>
          <a:ln w="1905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171700" y="2258568"/>
            <a:ext cx="54864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64748B"/>
                </a:solidFill>
                <a:latin typeface="Calibri"/>
                <a:ea typeface="Microsoft YaHei"/>
              </a:rPr>
              <a:t>压缩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68880"/>
            <a:ext cx="914400" cy="320040"/>
          </a:xfrm>
          <a:prstGeom prst="rect">
            <a:avLst/>
          </a:prstGeom>
          <a:solidFill>
            <a:srgbClr val="DBEAFE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5420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3B82F6"/>
                </a:solidFill>
                <a:latin typeface="Calibri"/>
                <a:ea typeface="Microsoft YaHei"/>
              </a:rPr>
              <a:t>compaction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0" y="2468880"/>
            <a:ext cx="914400" cy="32004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25420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59E0B"/>
                </a:solidFill>
                <a:latin typeface="Calibri"/>
                <a:ea typeface="Microsoft YaHei"/>
              </a:rPr>
              <a:t>retainedTail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2468880"/>
            <a:ext cx="1097280" cy="320040"/>
          </a:xfrm>
          <a:prstGeom prst="rect">
            <a:avLst/>
          </a:prstGeom>
          <a:solidFill>
            <a:srgbClr val="DCFCE7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2542032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22C55E"/>
                </a:solidFill>
                <a:latin typeface="Calibri"/>
                <a:ea typeface="Microsoft YaHei"/>
              </a:rPr>
              <a:t>尾部原文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971800"/>
            <a:ext cx="3611880" cy="109728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063240"/>
            <a:ext cx="33375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1" i="0">
                <a:solidFill>
                  <a:srgbClr val="1E293B"/>
                </a:solidFill>
                <a:latin typeface="Calibri"/>
                <a:ea typeface="Microsoft YaHei"/>
              </a:rPr>
              <a:t>为什么 pi 需要 retainedTail？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被压的旧消息物理删除了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→ 保留区消息没了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→ 必须把近尾消息内联拷贝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  进 compaction entry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否则删了就没了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1234440"/>
            <a:ext cx="39776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09160" y="1234440"/>
            <a:ext cx="3977640" cy="7315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1417320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293B"/>
                </a:solidFill>
                <a:latin typeface="Georgia"/>
                <a:ea typeface="Microsoft YaHei"/>
              </a:rPr>
              <a:t>我们（只追加不删）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92040" y="1874520"/>
            <a:ext cx="3611880" cy="32004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1947672"/>
            <a:ext cx="3611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  <a:ea typeface="Microsoft YaHei"/>
              </a:rPr>
              <a:t>压缩前：msg1 | msg2 | … | msg200（只追加）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697980.0" y="2240280"/>
            <a:ext cx="0.0" cy="137160"/>
          </a:xfrm>
          <a:prstGeom prst="line">
            <a:avLst/>
          </a:prstGeom>
          <a:ln w="1905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892040" y="2468880"/>
            <a:ext cx="3611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2542032"/>
            <a:ext cx="3611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  <a:ea typeface="Microsoft YaHei"/>
              </a:rPr>
              <a:t>msg1…msg200 仍在文件（灰掉但不删）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2450592"/>
            <a:ext cx="1371600" cy="365760"/>
          </a:xfrm>
          <a:prstGeom prst="rect">
            <a:avLst/>
          </a:prstGeom>
          <a:solidFill>
            <a:srgbClr val="DBEAFE"/>
          </a:solidFill>
          <a:ln w="317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0" y="2514600"/>
            <a:ext cx="137160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3B82F6"/>
                </a:solidFill>
                <a:latin typeface="Calibri"/>
                <a:ea typeface="Microsoft YaHei"/>
              </a:rPr>
              <a:t>+ compaction entry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2651760"/>
            <a:ext cx="137160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64748B"/>
                </a:solidFill>
                <a:latin typeface="Calibri"/>
                <a:ea typeface="Microsoft YaHei"/>
              </a:rPr>
              <a:t>firstKeptEntryId 指针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92040" y="2971800"/>
            <a:ext cx="3611880" cy="1097280"/>
          </a:xfrm>
          <a:prstGeom prst="rect">
            <a:avLst/>
          </a:prstGeom>
          <a:solidFill>
            <a:srgbClr val="ECFDF5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3063240"/>
            <a:ext cx="33375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1" i="0">
                <a:solidFill>
                  <a:srgbClr val="1E293B"/>
                </a:solidFill>
                <a:latin typeface="Calibri"/>
                <a:ea typeface="Microsoft YaHei"/>
              </a:rPr>
              <a:t>为什么我们不需要 retainedTail？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消息还在文件里（只追加）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→ 用 firstKeptEntryId（指针）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  就能定位「从哪开始保留」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→ 不需要把消息拷贝一份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原始数据永远在，可回放、可审计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114800"/>
            <a:ext cx="38100" cy="5029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5300" y="4114800"/>
            <a:ext cx="819150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4187952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E293B"/>
                </a:solidFill>
                <a:latin typeface="Calibri"/>
                <a:ea typeface="Microsoft YaHei"/>
              </a:rPr>
              <a:t>抄别人的设计要抄思想，不是抄表面。pi 需要 retainedTail 是因为它「删」，我们不删所以不需要。先看人家的存储模型和你一不一样。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57200" y="4640580"/>
            <a:ext cx="8229600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64748B"/>
                </a:solidFill>
                <a:latin typeface="Calibri"/>
                <a:ea typeface="Microsoft YaHei"/>
              </a:rPr>
              <a:t>对应文档：知识点-03 §七 · 存储模型决定设计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1">
                <a:solidFill>
                  <a:srgbClr val="028090"/>
                </a:solidFill>
                <a:latin typeface="Calibri"/>
                <a:ea typeface="Microsoft YaHei"/>
              </a:rPr>
              <a:t>05  全景对照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E293B"/>
                </a:solidFill>
                <a:latin typeface="Georgia"/>
                <a:ea typeface="Microsoft YaHei"/>
              </a:rPr>
              <a:t>Claude Code：五段成本递增流水线（LLM 是最后兜底）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87552"/>
            <a:ext cx="731520" cy="0"/>
          </a:xfrm>
          <a:prstGeom prst="line">
            <a:avLst/>
          </a:prstGeom>
          <a:ln w="31750">
            <a:solidFill>
              <a:srgbClr val="0280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955280" y="29260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  <a:ea typeface="Microsoft YaHei"/>
              </a:rPr>
              <a:t>15 / 18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3749039"/>
            <a:ext cx="7863840" cy="0"/>
          </a:xfrm>
          <a:prstGeom prst="line">
            <a:avLst/>
          </a:prstGeom>
          <a:ln w="254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589520" y="3566159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64748B"/>
                </a:solidFill>
                <a:latin typeface="Calibri"/>
                <a:ea typeface="Microsoft YaHei"/>
              </a:rPr>
              <a:t>成本递增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94759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4748B"/>
                </a:solidFill>
                <a:latin typeface="Calibri"/>
                <a:ea typeface="Microsoft YaHei"/>
              </a:rPr>
              <a:t>零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0" y="3794759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64748B"/>
                </a:solidFill>
                <a:latin typeface="Calibri"/>
                <a:ea typeface="Microsoft YaHei"/>
              </a:rPr>
              <a:t>调 LLM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43200"/>
            <a:ext cx="1463040" cy="822960"/>
          </a:xfrm>
          <a:prstGeom prst="rect">
            <a:avLst/>
          </a:prstGeom>
          <a:solidFill>
            <a:srgbClr val="D1FAE5"/>
          </a:solidFill>
          <a:ln w="254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1280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22C55E"/>
                </a:solidFill>
                <a:latin typeface="Calibri"/>
                <a:ea typeface="Microsoft YaHei"/>
              </a:rPr>
              <a:t>Budget
Reduction</a:t>
            </a:r>
          </a:p>
        </p:txBody>
      </p:sp>
      <p:sp>
        <p:nvSpPr>
          <p:cNvPr id="12" name="Oval 11"/>
          <p:cNvSpPr/>
          <p:nvPr/>
        </p:nvSpPr>
        <p:spPr>
          <a:xfrm>
            <a:off x="1234440" y="2560320"/>
            <a:ext cx="274320" cy="27432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60604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0280" y="2331720"/>
            <a:ext cx="1463040" cy="1234440"/>
          </a:xfrm>
          <a:prstGeom prst="rect">
            <a:avLst/>
          </a:prstGeom>
          <a:solidFill>
            <a:srgbClr val="D1FAE5"/>
          </a:solidFill>
          <a:ln w="254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720" y="2423160"/>
            <a:ext cx="1280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22C55E"/>
                </a:solidFill>
                <a:latin typeface="Calibri"/>
                <a:ea typeface="Microsoft YaHei"/>
              </a:rPr>
              <a:t>Snip</a:t>
            </a:r>
          </a:p>
        </p:txBody>
      </p:sp>
      <p:sp>
        <p:nvSpPr>
          <p:cNvPr id="16" name="Oval 15"/>
          <p:cNvSpPr/>
          <p:nvPr/>
        </p:nvSpPr>
        <p:spPr>
          <a:xfrm>
            <a:off x="2834640" y="2148840"/>
            <a:ext cx="274320" cy="27432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219456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1920240"/>
            <a:ext cx="1463040" cy="1645920"/>
          </a:xfrm>
          <a:prstGeom prst="rect">
            <a:avLst/>
          </a:prstGeom>
          <a:solidFill>
            <a:srgbClr val="D1FAE5"/>
          </a:solidFill>
          <a:ln w="254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2011680"/>
            <a:ext cx="1280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22C55E"/>
                </a:solidFill>
                <a:latin typeface="Calibri"/>
                <a:ea typeface="Microsoft YaHei"/>
              </a:rPr>
              <a:t>Microcompact</a:t>
            </a:r>
          </a:p>
        </p:txBody>
      </p:sp>
      <p:sp>
        <p:nvSpPr>
          <p:cNvPr id="20" name="Oval 19"/>
          <p:cNvSpPr/>
          <p:nvPr/>
        </p:nvSpPr>
        <p:spPr>
          <a:xfrm>
            <a:off x="4434840" y="1737360"/>
            <a:ext cx="274320" cy="27432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178308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40680" y="1508760"/>
            <a:ext cx="1463040" cy="2057400"/>
          </a:xfrm>
          <a:prstGeom prst="rect">
            <a:avLst/>
          </a:prstGeom>
          <a:solidFill>
            <a:srgbClr val="D1FAE5"/>
          </a:solidFill>
          <a:ln w="254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0" y="1600200"/>
            <a:ext cx="1280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22C55E"/>
                </a:solidFill>
                <a:latin typeface="Calibri"/>
                <a:ea typeface="Microsoft YaHei"/>
              </a:rPr>
              <a:t>Context
Collapse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2148840"/>
            <a:ext cx="1280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久远历史细粒度折叠
多层消息合并</a:t>
            </a:r>
          </a:p>
        </p:txBody>
      </p:sp>
      <p:sp>
        <p:nvSpPr>
          <p:cNvPr id="25" name="Oval 24"/>
          <p:cNvSpPr/>
          <p:nvPr/>
        </p:nvSpPr>
        <p:spPr>
          <a:xfrm>
            <a:off x="6035040" y="1325880"/>
            <a:ext cx="274320" cy="27432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137160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1097280"/>
            <a:ext cx="1463040" cy="246888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1188720"/>
            <a:ext cx="1280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F59E0B"/>
                </a:solidFill>
                <a:latin typeface="Calibri"/>
                <a:ea typeface="Microsoft YaHei"/>
              </a:rPr>
              <a:t>Auto-
Compact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1737360"/>
            <a:ext cx="1280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LLM 生成结构化摘要
九章节 + 状态重注入</a:t>
            </a:r>
          </a:p>
        </p:txBody>
      </p:sp>
      <p:sp>
        <p:nvSpPr>
          <p:cNvPr id="30" name="Oval 29"/>
          <p:cNvSpPr/>
          <p:nvPr/>
        </p:nvSpPr>
        <p:spPr>
          <a:xfrm>
            <a:off x="7635240" y="914400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5240" y="9601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  <a:ea typeface="Microsoft YaHei"/>
              </a:rPr>
              <a:t>5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972300.0" y="1097280"/>
            <a:ext cx="0.0" cy="2651759"/>
          </a:xfrm>
          <a:prstGeom prst="line">
            <a:avLst/>
          </a:prstGeom>
          <a:ln w="19050">
            <a:solidFill>
              <a:srgbClr val="EF444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40080" y="1188720"/>
            <a:ext cx="1188720" cy="27432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1234440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  <a:ea typeface="Microsoft YaHei"/>
              </a:rPr>
              <a:t>本地 · 零 API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63740" y="1188720"/>
            <a:ext cx="1371600" cy="274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63740" y="1234440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  <a:ea typeface="Microsoft YaHei"/>
              </a:rPr>
              <a:t>调 LLM · 兜底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63740" y="1645920"/>
            <a:ext cx="1440180" cy="164592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00900" y="1737360"/>
            <a:ext cx="11658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1" i="0">
                <a:solidFill>
                  <a:srgbClr val="1E293B"/>
                </a:solidFill>
                <a:latin typeface="Calibri"/>
                <a:ea typeface="Microsoft YaHei"/>
              </a:rPr>
              <a:t>•  Auto-Compact 细节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•  九章节摘要 + 状态重注入（文件/Plan/skill/工具）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•  fork agent + 共享 prompt cache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•  预留 20k 输出 + 13k 缓冲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•  连续失败 3 次 → 熔断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E293B"/>
                </a:solidFill>
                <a:latin typeface="Calibri"/>
                <a:ea typeface="Microsoft YaHei"/>
              </a:rPr>
              <a:t>•  PTL 兜底：剥 20% 重试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023360"/>
            <a:ext cx="38100" cy="5029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95300" y="4023360"/>
            <a:ext cx="819150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4096512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E293B"/>
                </a:solidFill>
                <a:latin typeface="Calibri"/>
                <a:ea typeface="Microsoft YaHei"/>
              </a:rPr>
              <a:t>能用免费手段释放的空间，不花钱买。多数会话根本走不到 LLM 摘要 — 前四段全是本地操作，零 API 调用。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57200" y="4640580"/>
            <a:ext cx="8229600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64748B"/>
                </a:solidFill>
                <a:latin typeface="Calibri"/>
                <a:ea typeface="Microsoft YaHei"/>
              </a:rPr>
              <a:t>对应文档：知识点-05 · Claude Code 五段流水线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1">
                <a:solidFill>
                  <a:srgbClr val="028090"/>
                </a:solidFill>
                <a:latin typeface="Calibri"/>
                <a:ea typeface="Microsoft YaHei"/>
              </a:rPr>
              <a:t>05  全景对照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E293B"/>
                </a:solidFill>
                <a:latin typeface="Georgia"/>
                <a:ea typeface="Microsoft YaHei"/>
              </a:rPr>
              <a:t>五家对照总表（8 维度 × 5 家）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87552"/>
            <a:ext cx="731520" cy="0"/>
          </a:xfrm>
          <a:prstGeom prst="line">
            <a:avLst/>
          </a:prstGeom>
          <a:ln w="31750">
            <a:solidFill>
              <a:srgbClr val="0280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955280" y="29260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  <a:ea typeface="Microsoft YaHei"/>
              </a:rPr>
              <a:t>16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05840" cy="3200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  <a:ea typeface="Microsoft YaHei"/>
              </a:rPr>
              <a:t>维度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143000"/>
            <a:ext cx="1371600" cy="3200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207008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  <a:ea typeface="Microsoft YaHei"/>
              </a:rPr>
              <a:t>我们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1143000"/>
            <a:ext cx="1371600" cy="320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207008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  <a:ea typeface="Microsoft YaHei"/>
              </a:rPr>
              <a:t>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143000"/>
            <a:ext cx="1463040" cy="3200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207008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  <a:ea typeface="Microsoft YaHei"/>
              </a:rPr>
              <a:t>codex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1143000"/>
            <a:ext cx="1463040" cy="3200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1207008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  <a:ea typeface="Microsoft YaHei"/>
              </a:rPr>
              <a:t>DSH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1143000"/>
            <a:ext cx="1554480" cy="3200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1207008"/>
            <a:ext cx="1554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  <a:ea typeface="Microsoft YaHei"/>
              </a:rPr>
              <a:t>Claude 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463040"/>
            <a:ext cx="10058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1490472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1E293B"/>
                </a:solidFill>
                <a:latin typeface="Calibri"/>
                <a:ea typeface="Microsoft YaHei"/>
              </a:rPr>
              <a:t>存储模型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1463040"/>
            <a:ext cx="13716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08760" y="1490472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消息树
JSONL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1463040"/>
            <a:ext cx="13716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0360" y="1490472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append-only
日志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1463040"/>
            <a:ext cx="14630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149047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窗口 id 链
+ world state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1463040"/>
            <a:ext cx="14630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5000" y="149047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事件日志
+ surface 视图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1463040"/>
            <a:ext cx="15544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8040" y="1490472"/>
            <a:ext cx="1463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本地会话文件
+ 服务端 cache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1810512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1837944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1E293B"/>
                </a:solidFill>
                <a:latin typeface="Calibri"/>
                <a:ea typeface="Microsoft YaHei"/>
              </a:rPr>
              <a:t>触发方式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63040" y="1810512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08760" y="1837944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run 结束阈值
窗口-预留≈984K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4640" y="1810512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0360" y="1837944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threshold/overflow
/manual 三 reason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06240" y="1810512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51960" y="1837944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PreTurn+MidTurn
+ 换模型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0" y="1810512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0" y="1837944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pressure(0.8)
+ context-overflow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0" y="1810512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78040" y="1837944"/>
            <a:ext cx="1463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预留 20k 输出
+13k 缓冲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2157984"/>
            <a:ext cx="10058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2185416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1E293B"/>
                </a:solidFill>
                <a:latin typeface="Calibri"/>
                <a:ea typeface="Microsoft YaHei"/>
              </a:rPr>
              <a:t>摘要生成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63040" y="2157984"/>
            <a:ext cx="13716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508760" y="2185416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LLM 结构化摘要
失败拼贴降级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34640" y="2157984"/>
            <a:ext cx="13716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80360" y="2185416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LLM 摘要
split-turn 特殊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2157984"/>
            <a:ext cx="14630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51960" y="2185416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本地 memento
/ 远程 compact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0" y="2157984"/>
            <a:ext cx="14630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15000" y="2185416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剪枝先行
→ LLM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32320" y="2157984"/>
            <a:ext cx="15544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78040" y="2185416"/>
            <a:ext cx="1463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五段成本递增
LLM 兜底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2505456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2532888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1E293B"/>
                </a:solidFill>
                <a:latin typeface="Calibri"/>
                <a:ea typeface="Microsoft YaHei"/>
              </a:rPr>
              <a:t>保留策略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463040" y="2505456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508760" y="2532888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最近 N 条原文
（定长）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34640" y="2505456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80360" y="2532888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尾部 20k tokens
retainedTail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06240" y="2505456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51960" y="2532888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只留用户消息
assistant/tool 全丢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0" y="2505456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715000" y="2532888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比例 retainRatio
0.16（窗口 16%）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32320" y="2505456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78040" y="2532888"/>
            <a:ext cx="1463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脱水+九章节摘要
+ 状态重注入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2852928"/>
            <a:ext cx="10058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2920" y="2880360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1E293B"/>
                </a:solidFill>
                <a:latin typeface="Calibri"/>
                <a:ea typeface="Microsoft YaHei"/>
              </a:rPr>
              <a:t>切点约束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463040" y="2852928"/>
            <a:ext cx="13716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508760" y="2880360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第一条 ≠ toolResult
API 400 教训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34640" y="2852928"/>
            <a:ext cx="13716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880360" y="2880360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turn 边界
+ split-turn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06240" y="2852928"/>
            <a:ext cx="14630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251960" y="2880360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窗口记账纪元
非 turn 切点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669280" y="2852928"/>
            <a:ext cx="14630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715000" y="2880360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tool-pairing balance
任意线不拆对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132320" y="2852928"/>
            <a:ext cx="15544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178040" y="2880360"/>
            <a:ext cx="1463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3200400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2920" y="3227832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1E293B"/>
                </a:solidFill>
                <a:latin typeface="Calibri"/>
                <a:ea typeface="Microsoft YaHei"/>
              </a:rPr>
              <a:t>增量继承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463040" y="3200400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508760" y="3227832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previousSummary
递归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834640" y="3200400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880360" y="3227832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previousSummary
+ details 文件清单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06240" y="3200400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251960" y="322783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不递归
（交接笔记）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669280" y="3200400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715000" y="322783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指令内合并单块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132320" y="3200400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178040" y="3227832"/>
            <a:ext cx="1463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不递归
（同 codex）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57200" y="3547872"/>
            <a:ext cx="10058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02920" y="3575304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1E293B"/>
                </a:solidFill>
                <a:latin typeface="Calibri"/>
                <a:ea typeface="Microsoft YaHei"/>
              </a:rPr>
              <a:t>缓存策略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463040" y="3547872"/>
            <a:ext cx="13716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508760" y="3575304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独立请求
不划算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834640" y="3547872"/>
            <a:ext cx="13716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880360" y="3575304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不进缓存
cacheRetention:none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206240" y="3547872"/>
            <a:ext cx="14630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251960" y="3575304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复用 client_session
删最旧保前缀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669280" y="3547872"/>
            <a:ext cx="14630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715000" y="3575304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前缀复用
不失效 KV cache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132320" y="3547872"/>
            <a:ext cx="15544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178040" y="3575304"/>
            <a:ext cx="1463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fork agent
+ 共享 cache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57200" y="3895344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2920" y="3922776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1E293B"/>
                </a:solidFill>
                <a:latin typeface="Calibri"/>
                <a:ea typeface="Microsoft YaHei"/>
              </a:rPr>
              <a:t>健壮性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463040" y="3895344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508760" y="3922776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失败降级拼贴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834640" y="3895344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880360" y="3922776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overflow 恢复
删失败消息重试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206240" y="3895344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251960" y="3922776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远程失败换模型
+ fallback prompt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669280" y="3895344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715000" y="3922776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durable 锁
+ 六类错误码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132320" y="3895344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178040" y="3922776"/>
            <a:ext cx="1463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熔断 + PTL 剥洋葱
多级降级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57200" y="1463040"/>
            <a:ext cx="38100" cy="2779776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57200" y="4434840"/>
            <a:ext cx="38100" cy="5029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95300" y="4434840"/>
            <a:ext cx="819150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94360" y="4507992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E293B"/>
                </a:solidFill>
                <a:latin typeface="Calibri"/>
                <a:ea typeface="Microsoft YaHei"/>
              </a:rPr>
              <a:t>五个共同点：禁 toolResult 切点、保留策略=产品哲学、零成本优先于摘要、缓存=前缀复用、增量摘要不递归是潮流。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457200" y="4640580"/>
            <a:ext cx="8229600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64748B"/>
                </a:solidFill>
                <a:latin typeface="Calibri"/>
                <a:ea typeface="Microsoft YaHei"/>
              </a:rPr>
              <a:t>对应文档：知识点-08 §三 · 五家对照总表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1">
                <a:solidFill>
                  <a:srgbClr val="028090"/>
                </a:solidFill>
                <a:latin typeface="Calibri"/>
                <a:ea typeface="Microsoft YaHei"/>
              </a:rPr>
              <a:t>05  全景对照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E293B"/>
                </a:solidFill>
                <a:latin typeface="Georgia"/>
                <a:ea typeface="Microsoft YaHei"/>
              </a:rPr>
              <a:t>五句话总结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87552"/>
            <a:ext cx="731520" cy="0"/>
          </a:xfrm>
          <a:prstGeom prst="line">
            <a:avLst/>
          </a:prstGeom>
          <a:ln w="31750">
            <a:solidFill>
              <a:srgbClr val="0280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955280" y="29260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  <a:ea typeface="Microsoft YaHei"/>
              </a:rPr>
              <a:t>17 / 18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  <a:ea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18872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293B"/>
                </a:solidFill>
                <a:latin typeface="Georgia"/>
                <a:ea typeface="Microsoft YaHei"/>
              </a:rPr>
              <a:t>人人都禁 toolResult 作切点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36192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  <a:ea typeface="Microsoft YaHei"/>
              </a:rPr>
              <a:t>三种实现强度，codex 用窗口纪元绕开
API 契约是硬约束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58568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  <a:ea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14884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293B"/>
                </a:solidFill>
                <a:latin typeface="Georgia"/>
                <a:ea typeface="Microsoft YaHei"/>
              </a:rPr>
              <a:t>保留什么 = 产品哲学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96312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  <a:ea typeface="Microsoft YaHei"/>
              </a:rPr>
              <a:t>pi 保原文尾、codex 保用户消息尾
CC 保状态重建、DSH 比例制、我们定长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15468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218688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  <a:ea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10896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293B"/>
                </a:solidFill>
                <a:latin typeface="Georgia"/>
                <a:ea typeface="Microsoft YaHei"/>
              </a:rPr>
              <a:t>增量摘要不递归是潮流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456432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  <a:ea typeface="Microsoft YaHei"/>
              </a:rPr>
              <a:t>pi 递归，codex/CC 显式不递归
DSH 指令内合并单块</a:t>
            </a:r>
          </a:p>
        </p:txBody>
      </p:sp>
      <p:sp>
        <p:nvSpPr>
          <p:cNvPr id="18" name="Oval 17"/>
          <p:cNvSpPr/>
          <p:nvPr/>
        </p:nvSpPr>
        <p:spPr>
          <a:xfrm>
            <a:off x="4754880" y="141732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1481328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  <a:ea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137160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293B"/>
                </a:solidFill>
                <a:latin typeface="Georgia"/>
                <a:ea typeface="Microsoft YaHei"/>
              </a:rPr>
              <a:t>缓存哲学两条路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1719072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  <a:ea typeface="Microsoft YaHei"/>
              </a:rPr>
              <a:t>pi「摘要隔离不进缓存」
vs codex/DSH/CC「压缩不伤前缀缓存」</a:t>
            </a:r>
          </a:p>
        </p:txBody>
      </p:sp>
      <p:sp>
        <p:nvSpPr>
          <p:cNvPr id="22" name="Oval 21"/>
          <p:cNvSpPr/>
          <p:nvPr/>
        </p:nvSpPr>
        <p:spPr>
          <a:xfrm>
            <a:off x="4754880" y="237744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2441448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  <a:ea typeface="Microsoft YaHe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33172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293B"/>
                </a:solidFill>
                <a:latin typeface="Georgia"/>
                <a:ea typeface="Microsoft YaHei"/>
              </a:rPr>
              <a:t>零成本优先于摘要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2679192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  <a:ea typeface="Microsoft YaHei"/>
              </a:rPr>
              <a:t>DSH 剪枝、CC 五段流水线、codex TokenBudget
LLM 摘要是最后手段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Georgia"/>
                <a:ea typeface="Microsoft YaHei"/>
              </a:rPr>
              <a:t>压缩的本质：在有限的上下文窗口里，尽可能多地「记住」重要的事。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7200" y="4640580"/>
            <a:ext cx="8229600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64748B"/>
                </a:solidFill>
                <a:latin typeface="Calibri"/>
                <a:ea typeface="Microsoft YaHei"/>
              </a:rPr>
              <a:t>对应文档：知识点-08 §四 · 五句话总结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50800" cy="18288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645920"/>
            <a:ext cx="7132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  <a:ea typeface="Microsoft YaHei"/>
              </a:rP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51760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1">
                <a:solidFill>
                  <a:srgbClr val="99D6D8"/>
                </a:solidFill>
                <a:latin typeface="Georgia"/>
                <a:ea typeface="Microsoft YaHei"/>
              </a:rPr>
              <a:t>Q &amp; 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3474720"/>
            <a:ext cx="7132320" cy="0"/>
          </a:xfrm>
          <a:prstGeom prst="line">
            <a:avLst/>
          </a:prstGeom>
          <a:ln w="6350">
            <a:solidFill>
              <a:srgbClr val="558E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05840" y="36576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9D6D8"/>
                </a:solidFill>
                <a:latin typeface="Calibri"/>
                <a:ea typeface="Microsoft YaHei"/>
              </a:rPr>
              <a:t>agent-learn · 做中学项目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31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99D6D8"/>
                </a:solidFill>
                <a:latin typeface="Calibri"/>
                <a:ea typeface="Microsoft YaHei"/>
              </a:rPr>
              <a:t>相关文档：doc/分享-压缩三家对照/</a:t>
            </a:r>
          </a:p>
        </p:txBody>
      </p:sp>
      <p:sp>
        <p:nvSpPr>
          <p:cNvPr id="8" name="Oval 7"/>
          <p:cNvSpPr/>
          <p:nvPr/>
        </p:nvSpPr>
        <p:spPr>
          <a:xfrm>
            <a:off x="7772400" y="3749039"/>
            <a:ext cx="164592" cy="16459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0" y="3749039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21040" y="3749039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95359" y="3749039"/>
            <a:ext cx="164592" cy="16459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69680" y="3749039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